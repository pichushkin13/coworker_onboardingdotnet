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22/04/25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22/04/25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22/04/25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databases and SQL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Ameria</a:t>
            </a:r>
            <a:r>
              <a:rPr lang="en-US" dirty="0"/>
              <a:t> bank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206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database?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4" y="1729047"/>
            <a:ext cx="3156469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90C226"/>
                </a:solidFill>
              </a:rPr>
              <a:t>A database </a:t>
            </a:r>
            <a:r>
              <a:rPr lang="en-US" dirty="0"/>
              <a:t>is a system designed to store, organize, and manage data. </a:t>
            </a:r>
            <a:br>
              <a:rPr lang="en-US" dirty="0"/>
            </a:br>
            <a:r>
              <a:rPr lang="en-US" dirty="0"/>
              <a:t>An important feature of databases is that they allow you to store information in a structured form, as well as quickly find the necessary data using queries.</a:t>
            </a:r>
            <a:endParaRPr lang="ru-RU" dirty="0"/>
          </a:p>
        </p:txBody>
      </p:sp>
      <p:pic>
        <p:nvPicPr>
          <p:cNvPr id="1026" name="Picture 2" descr="https://lh7-rt.googleusercontent.com/u/0/docs/AHkbwyLRPqSUorayiEs3N-SVn24ofy6wiRjHjgOCtxkOdgB29pp0rAuNkEfTMTBxnyDfkSNVcPFTEJmOfI10a4FINWihs1mU5s2aflTcCmW9OLX0iBxT1PL_M2WbWiGwdmys8BR3ybKzTvSOGASfGWhr7Np3BnNHlsvZsiYoNv-xtoNag3x1gmikkuFX3Zy-dOzjvDRDkYOrvu2vyjBqZ4g831VlvsNrzTV7CSl7lUNZuozIDnVnrBBfIZ1fz0gAEK4Jc740_e9U0ZYibECdw3kBUbm3cVcgAquUtO2Wq9nEYyyySRlZtZJtuSYDLBmBtqLyMkNZUPEDPDVfiUf8hYs141G_ThZZ246F9_ol4drfCL_rGY0gBO4lZKcaryyiTh4lFz6j3nR0FOoH2U7qkC_CyCwQ_u4XZV4uyCemdH3dbcfmXM3OGBe144aDpAHpjznlg0MGAg_xU8Rlud9GHjc-PQfMqnc1zyimX108hRLIyCVpl8ir6wdjNrwGlROKoGY5RmownqyjFWDRqS991m-19hdx7WnO87VFMQz7UPUjQcf1llrkzHOixppZ0iXVwClR133rotIbUYA9aCi7myp58gjanLgG8pxYCAzElrE7du90DAtT-GuL87jDhAyG9QIKfzPE2he7jN9VsLj7fip2TYlQGUeD4tSgikQnMckB4lP3P9EQNsXYIeL0zUvjS5bPA69cSYOmHdwmW3KOUlCiTEs1eT-55Hdy_7zjowR4kKYLoehEpJVA5fWwHXTf9Mu9Jq5BBFF70GHI2bKbeB_H_6zPnFyVGeJJ29sYVpf6PasPvAcgRVPAhAlvORiYb2Rg2rTQEq0h7w5VPEXKTwfbBNAWntFiOIzVCrJEXVxSQIocYeGBldE4A6b6ZiHL_oHN4cc6qXKMR7Ho0hhWieC1sBp73joNQdNoS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233" y="1729047"/>
            <a:ext cx="7808018" cy="446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94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databases are necessary</a:t>
            </a:r>
            <a:r>
              <a:rPr lang="ru-RU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4" y="2177935"/>
            <a:ext cx="45357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90C226"/>
                </a:solidFill>
              </a:rPr>
              <a:t>Advantages</a:t>
            </a:r>
            <a:r>
              <a:rPr lang="en-US" b="1" dirty="0"/>
              <a:t> of databases: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dirty="0"/>
              <a:t>Support for automatic backup creation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dirty="0"/>
              <a:t>Reliable data storage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dirty="0"/>
              <a:t>Flexibility and convenience when working with large data sets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dirty="0"/>
              <a:t>Efficient information management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dirty="0"/>
              <a:t>Ensuring data availability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213081" y="2177935"/>
            <a:ext cx="43837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5"/>
                </a:solidFill>
              </a:rPr>
              <a:t>Disadvantages</a:t>
            </a:r>
            <a:r>
              <a:rPr lang="en-US" b="1" dirty="0"/>
              <a:t> of alternative solutions: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Spreadsheet editors struggle with large amounts of data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Files stored on a hard drive make collaboration difficult and can be lost in case of a device failure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Cloud storage is limited when working with heterogeneous data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Managing unstructured data (e.g., in cloud storage) becomes complex and costly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353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7-rt.googleusercontent.com/u/0/docs/AHkbwyKrFHeHGlmxMGg0KlCtYJpJkU6LntIFRb81jgJJKOA1caTa7bOeRPPUgWsNGCNh7PKWYOl9IRZ3sYoQ7543aAy6YqdPpDDN4OH5Pxl4f2wVqkh9i4N9mL7AP4UxGNhae81q_JM0ya0hn46J4vWtx3a6WlraQmtPNDU0F7KqhaSq90mUAcVIKuBcqhJIYPLw5c63RvUlXgkdlqE9U8VpHnA99Xlz6uPHXuYcAqWSIwah5tj5XrfDYNDc1ouSkFvUWJOVm073lDRjCt2Luyy468UUYXqN3QzF0wJOprz4GeI_DqcHBnLO16sHS4xNZcw64u436fcCOEDD-0tMTi8mKRtVGZ6z6vZzYxBG78GSgQ6PawzPSoRP-UXKXU_WjXOuzbOKYGCsDSiC5Wfv5DAieBjjqg7_1NXzqBCbTC431EdIPIurLSXyVKU96IPCmlOk1u4U4b_b__LZZMadNWK95b9_6C3P_rmARO6t-mAVIsxHwc_Sbske5Ja2eIVohRvutttcF2-UnioWs5Mdzjwbz0Z3oz1PVP-IinCbYhhfaGfHUVfa4tSCMG92snP_McwaW4KSaxSUUumB8fGGZ-_0bmGkv4XqsoF5kUy20xy3aEZ--QEwdQws6dB8PjuDkssLHz6ShFkRVt3gOMv7yMIR-3SfRXctyIdIJDNteso889XynB1iF-4uL49OGPMXQdYAAe4mMcR0j98BJDp9O0DeHFQc7trkZ97hrQ0oqqnRyhEt6H3YRlcMmQf5PMLlxCd0OVcMSeWhoF7TLgw2oCXPgHEqWrq83GCB25Xkqw0OEM4tjTwfYooUKpe2R_bSusSdZXw1S78Ed_a21Sx_A3eacdiPFhN5j9vHv_VbGYQXyKGiwe2l31QoMlWsoSwqHzq0b1kyJG4L6_u6T3cgzYQyNgcBQ1I6fzn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065" y="1422720"/>
            <a:ext cx="7150916" cy="521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Types of Databases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4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0486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Relational Databases (SQL)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299685"/>
              </p:ext>
            </p:extLst>
          </p:nvPr>
        </p:nvGraphicFramePr>
        <p:xfrm>
          <a:off x="2535382" y="2168901"/>
          <a:ext cx="657536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300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1395558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2001688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  <a:gridCol w="1866821">
                  <a:extLst>
                    <a:ext uri="{9D8B030D-6E8A-4147-A177-3AD203B41FA5}">
                      <a16:colId xmlns:a16="http://schemas.microsoft.com/office/drawing/2014/main" val="516839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Client</a:t>
                      </a:r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Surname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Phone number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Aram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Hakobyan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+374 91 123 456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Nvard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Sargsyan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+374 95 234 567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Tigran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Vardanyan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+374 93 345 678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2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Anahit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Grigoryan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+374 91 456 789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8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Hovhannes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Petrosyan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+374 94 567 890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13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Lilit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Abrahamyan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+374 96 678 901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2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Karen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Melikyan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+374 91 789 012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5247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200400" y="1828800"/>
            <a:ext cx="0" cy="24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14100" y="1459468"/>
            <a:ext cx="1910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0C226"/>
                </a:solidFill>
              </a:rPr>
              <a:t>Primary Key (PK)</a:t>
            </a:r>
            <a:endParaRPr lang="ru-RU" dirty="0">
              <a:solidFill>
                <a:srgbClr val="90C22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66176" y="1450293"/>
            <a:ext cx="2808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0C226"/>
                </a:solidFill>
              </a:rPr>
              <a:t>Column (Attribute, Field)</a:t>
            </a:r>
            <a:endParaRPr lang="ru-RU" dirty="0">
              <a:solidFill>
                <a:srgbClr val="90C226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682836" y="1819625"/>
            <a:ext cx="778626" cy="28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120938" y="1839884"/>
            <a:ext cx="0" cy="24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200669" y="1823259"/>
            <a:ext cx="657629" cy="254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6939" y="3302524"/>
            <a:ext cx="17692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90C226"/>
                </a:solidFill>
              </a:rPr>
              <a:t>Row </a:t>
            </a:r>
            <a:br>
              <a:rPr lang="en-US" dirty="0">
                <a:solidFill>
                  <a:srgbClr val="90C226"/>
                </a:solidFill>
              </a:rPr>
            </a:br>
            <a:r>
              <a:rPr lang="en-US" dirty="0">
                <a:solidFill>
                  <a:srgbClr val="90C226"/>
                </a:solidFill>
              </a:rPr>
              <a:t>(Tuple, Record)</a:t>
            </a:r>
            <a:endParaRPr lang="ru-RU" dirty="0">
              <a:solidFill>
                <a:srgbClr val="90C226"/>
              </a:solidFill>
            </a:endParaRPr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V="1">
            <a:off x="1926206" y="2784765"/>
            <a:ext cx="563987" cy="840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3"/>
          </p:cNvCxnSpPr>
          <p:nvPr/>
        </p:nvCxnSpPr>
        <p:spPr>
          <a:xfrm flipV="1">
            <a:off x="1926206" y="3200401"/>
            <a:ext cx="563987" cy="42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4" idx="3"/>
          </p:cNvCxnSpPr>
          <p:nvPr/>
        </p:nvCxnSpPr>
        <p:spPr>
          <a:xfrm flipV="1">
            <a:off x="1926206" y="3574629"/>
            <a:ext cx="563987" cy="51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4" idx="3"/>
          </p:cNvCxnSpPr>
          <p:nvPr/>
        </p:nvCxnSpPr>
        <p:spPr>
          <a:xfrm>
            <a:off x="1926206" y="3625690"/>
            <a:ext cx="563987" cy="272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3"/>
          </p:cNvCxnSpPr>
          <p:nvPr/>
        </p:nvCxnSpPr>
        <p:spPr>
          <a:xfrm>
            <a:off x="1926206" y="3625690"/>
            <a:ext cx="563986" cy="526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40385" y="3302524"/>
            <a:ext cx="1890614" cy="323165"/>
          </a:xfrm>
          <a:prstGeom prst="rect">
            <a:avLst/>
          </a:prstGeom>
          <a:noFill/>
          <a:ln w="57150">
            <a:solidFill>
              <a:srgbClr val="90C2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3" name="Straight Arrow Connector 32"/>
          <p:cNvCxnSpPr>
            <a:stCxn id="14" idx="3"/>
          </p:cNvCxnSpPr>
          <p:nvPr/>
        </p:nvCxnSpPr>
        <p:spPr>
          <a:xfrm>
            <a:off x="1926206" y="3625690"/>
            <a:ext cx="518796" cy="90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3"/>
          </p:cNvCxnSpPr>
          <p:nvPr/>
        </p:nvCxnSpPr>
        <p:spPr>
          <a:xfrm>
            <a:off x="1926206" y="3625690"/>
            <a:ext cx="528921" cy="131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361941" y="3277587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0C226"/>
                </a:solidFill>
              </a:rPr>
              <a:t>Cell</a:t>
            </a:r>
            <a:endParaRPr lang="ru-RU" dirty="0">
              <a:solidFill>
                <a:srgbClr val="90C226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9157625" y="3486150"/>
            <a:ext cx="224566" cy="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9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0486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Relational Databases (SQL)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195785"/>
              </p:ext>
            </p:extLst>
          </p:nvPr>
        </p:nvGraphicFramePr>
        <p:xfrm>
          <a:off x="588874" y="1831997"/>
          <a:ext cx="57682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43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  <a:gridCol w="1866821">
                  <a:extLst>
                    <a:ext uri="{9D8B030D-6E8A-4147-A177-3AD203B41FA5}">
                      <a16:colId xmlns:a16="http://schemas.microsoft.com/office/drawing/2014/main" val="516839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Client</a:t>
                      </a:r>
                      <a:r>
                        <a:rPr lang="en-US" sz="18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 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(FK)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ru-RU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Surname</a:t>
                      </a:r>
                      <a:endParaRPr lang="ru-RU" sz="18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Phone number</a:t>
                      </a:r>
                      <a:endParaRPr lang="ru-RU" sz="18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Aram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Hakobyan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+37491123456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Nvard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Sargsyan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+37495234567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</a:tbl>
          </a:graphicData>
        </a:graphic>
      </p:graphicFrame>
      <p:graphicFrame>
        <p:nvGraphicFramePr>
          <p:cNvPr id="2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745830"/>
              </p:ext>
            </p:extLst>
          </p:nvPr>
        </p:nvGraphicFramePr>
        <p:xfrm>
          <a:off x="4511596" y="3557244"/>
          <a:ext cx="638101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872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1673543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1665605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516839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Account ID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Client</a:t>
                      </a:r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(FK)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Account type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Balance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01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Debit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102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Credit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-500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</a:tbl>
          </a:graphicData>
        </a:graphic>
      </p:graphicFrame>
      <p:graphicFrame>
        <p:nvGraphicFramePr>
          <p:cNvPr id="2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1617380"/>
              </p:ext>
            </p:extLst>
          </p:nvPr>
        </p:nvGraphicFramePr>
        <p:xfrm>
          <a:off x="588874" y="5172902"/>
          <a:ext cx="72318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673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516839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Transaction</a:t>
                      </a:r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(PK)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Account ID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(FK)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Amount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Date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001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01.01.2025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100</a:t>
                      </a:r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-300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02.01.2025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</a:tbl>
          </a:graphicData>
        </a:graphic>
      </p:graphicFrame>
      <p:sp>
        <p:nvSpPr>
          <p:cNvPr id="108" name="Freeform 107"/>
          <p:cNvSpPr/>
          <p:nvPr/>
        </p:nvSpPr>
        <p:spPr>
          <a:xfrm>
            <a:off x="3875315" y="3366122"/>
            <a:ext cx="1662056" cy="1806780"/>
          </a:xfrm>
          <a:custGeom>
            <a:avLst/>
            <a:gdLst>
              <a:gd name="connsiteX0" fmla="*/ 0 w 1123405"/>
              <a:gd name="connsiteY0" fmla="*/ 2360023 h 2360023"/>
              <a:gd name="connsiteX1" fmla="*/ 0 w 1123405"/>
              <a:gd name="connsiteY1" fmla="*/ 0 h 2360023"/>
              <a:gd name="connsiteX2" fmla="*/ 1123405 w 1123405"/>
              <a:gd name="connsiteY2" fmla="*/ 0 h 2360023"/>
              <a:gd name="connsiteX3" fmla="*/ 1123405 w 1123405"/>
              <a:gd name="connsiteY3" fmla="*/ 209005 h 2360023"/>
              <a:gd name="connsiteX4" fmla="*/ 1123405 w 1123405"/>
              <a:gd name="connsiteY4" fmla="*/ 200297 h 2360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3405" h="2360023">
                <a:moveTo>
                  <a:pt x="0" y="2360023"/>
                </a:moveTo>
                <a:lnTo>
                  <a:pt x="0" y="0"/>
                </a:lnTo>
                <a:lnTo>
                  <a:pt x="1123405" y="0"/>
                </a:lnTo>
                <a:lnTo>
                  <a:pt x="1123405" y="209005"/>
                </a:lnTo>
                <a:lnTo>
                  <a:pt x="1123405" y="200297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Freeform 108"/>
          <p:cNvSpPr/>
          <p:nvPr/>
        </p:nvSpPr>
        <p:spPr>
          <a:xfrm>
            <a:off x="1375954" y="1584970"/>
            <a:ext cx="5886995" cy="1968137"/>
          </a:xfrm>
          <a:custGeom>
            <a:avLst/>
            <a:gdLst>
              <a:gd name="connsiteX0" fmla="*/ 0 w 5886995"/>
              <a:gd name="connsiteY0" fmla="*/ 235131 h 1968137"/>
              <a:gd name="connsiteX1" fmla="*/ 0 w 5886995"/>
              <a:gd name="connsiteY1" fmla="*/ 0 h 1968137"/>
              <a:gd name="connsiteX2" fmla="*/ 5886995 w 5886995"/>
              <a:gd name="connsiteY2" fmla="*/ 0 h 1968137"/>
              <a:gd name="connsiteX3" fmla="*/ 5886995 w 5886995"/>
              <a:gd name="connsiteY3" fmla="*/ 1968137 h 1968137"/>
              <a:gd name="connsiteX4" fmla="*/ 5886995 w 5886995"/>
              <a:gd name="connsiteY4" fmla="*/ 1950720 h 196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6995" h="1968137">
                <a:moveTo>
                  <a:pt x="0" y="235131"/>
                </a:moveTo>
                <a:lnTo>
                  <a:pt x="0" y="0"/>
                </a:lnTo>
                <a:lnTo>
                  <a:pt x="5886995" y="0"/>
                </a:lnTo>
                <a:lnTo>
                  <a:pt x="5886995" y="1968137"/>
                </a:lnTo>
                <a:lnTo>
                  <a:pt x="5886995" y="1950720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0" name="Rectangle 109"/>
          <p:cNvSpPr/>
          <p:nvPr/>
        </p:nvSpPr>
        <p:spPr>
          <a:xfrm>
            <a:off x="518724" y="3566428"/>
            <a:ext cx="1910651" cy="872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Primary Key (PK)</a:t>
            </a:r>
            <a:br>
              <a:rPr lang="en-US" dirty="0"/>
            </a:br>
            <a:r>
              <a:rPr lang="en-US" dirty="0"/>
              <a:t>Foreign Key (FK)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892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8080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90C226"/>
                </a:solidFill>
              </a:rPr>
              <a:t>Table</a:t>
            </a:r>
            <a:r>
              <a:rPr lang="en-US" dirty="0"/>
              <a:t> – A structured collection of data organized in rows and columns within a relational database. Each table represents an entity and consists of records (rows) and attributes (columns).</a:t>
            </a:r>
            <a:endParaRPr lang="ru-RU" dirty="0"/>
          </a:p>
          <a:p>
            <a:r>
              <a:rPr lang="en-US" b="1" dirty="0">
                <a:solidFill>
                  <a:srgbClr val="90C226"/>
                </a:solidFill>
              </a:rPr>
              <a:t>Row (Tuple, Record) </a:t>
            </a:r>
            <a:r>
              <a:rPr lang="en-US" dirty="0"/>
              <a:t>– A single entry in a table, representing a specific instance of the entity. Each row contains values for all columns defined in the table.</a:t>
            </a:r>
            <a:endParaRPr lang="ru-RU" dirty="0"/>
          </a:p>
          <a:p>
            <a:r>
              <a:rPr lang="en-US" b="1" dirty="0">
                <a:solidFill>
                  <a:srgbClr val="90C226"/>
                </a:solidFill>
              </a:rPr>
              <a:t>Column (Attribute, Field) </a:t>
            </a:r>
            <a:r>
              <a:rPr lang="en-US" dirty="0"/>
              <a:t>– A vertical structure in a table that stores a specific type of data for all records. Each column has a name and defines the type of data it holds.</a:t>
            </a:r>
            <a:endParaRPr lang="ru-RU" dirty="0"/>
          </a:p>
          <a:p>
            <a:r>
              <a:rPr lang="en-US" b="1" dirty="0">
                <a:solidFill>
                  <a:srgbClr val="90C226"/>
                </a:solidFill>
              </a:rPr>
              <a:t>Primary Key (PK) </a:t>
            </a:r>
            <a:r>
              <a:rPr lang="en-US" dirty="0"/>
              <a:t>– A unique identifier for each row in a table. It ensures that no two records have the same value in this column or combination of columns.</a:t>
            </a:r>
            <a:endParaRPr lang="ru-RU" dirty="0"/>
          </a:p>
          <a:p>
            <a:r>
              <a:rPr lang="en-US" b="1" dirty="0">
                <a:solidFill>
                  <a:srgbClr val="90C226"/>
                </a:solidFill>
              </a:rPr>
              <a:t>Foreign</a:t>
            </a:r>
            <a:r>
              <a:rPr lang="en-US" dirty="0"/>
              <a:t> </a:t>
            </a:r>
            <a:r>
              <a:rPr lang="en-US" b="1" dirty="0">
                <a:solidFill>
                  <a:srgbClr val="90C226"/>
                </a:solidFill>
              </a:rPr>
              <a:t>Key (FK) </a:t>
            </a:r>
            <a:r>
              <a:rPr lang="en-US" dirty="0"/>
              <a:t>– A column or set of columns in a table that establishes a link to the primary key of another table, enforcing referential integrity.</a:t>
            </a:r>
            <a:endParaRPr lang="ru-RU" dirty="0"/>
          </a:p>
          <a:p>
            <a:r>
              <a:rPr lang="en-US" b="1" dirty="0">
                <a:solidFill>
                  <a:srgbClr val="90C226"/>
                </a:solidFill>
              </a:rPr>
              <a:t>Cell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en-US" b="1" dirty="0">
                <a:solidFill>
                  <a:srgbClr val="90C226"/>
                </a:solidFill>
              </a:rPr>
              <a:t> </a:t>
            </a:r>
            <a:r>
              <a:rPr lang="en-US" dirty="0"/>
              <a:t>The intersection of a row and a column, containing a single data value within a table.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431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Relational Databases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77333" y="1729048"/>
            <a:ext cx="4695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Easy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to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organize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and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structure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data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:</a:t>
            </a:r>
            <a:r>
              <a:rPr lang="ru-RU" altLang="ru-RU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All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</a:t>
            </a:r>
            <a:r>
              <a:rPr lang="ru-RU" altLang="ru-RU" dirty="0">
                <a:latin typeface="Arial" panose="020B0604020202020204" pitchFamily="34" charset="0"/>
              </a:rPr>
              <a:t> is </a:t>
            </a:r>
            <a:r>
              <a:rPr lang="ru-RU" altLang="ru-RU" dirty="0" err="1">
                <a:latin typeface="Arial" panose="020B0604020202020204" pitchFamily="34" charset="0"/>
              </a:rPr>
              <a:t>clearly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divided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into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tables</a:t>
            </a:r>
            <a:r>
              <a:rPr lang="ru-RU" altLang="ru-RU" dirty="0">
                <a:latin typeface="Arial" panose="020B0604020202020204" pitchFamily="34" charset="0"/>
              </a:rPr>
              <a:t>, and </a:t>
            </a:r>
            <a:r>
              <a:rPr lang="ru-RU" altLang="ru-RU" dirty="0" err="1">
                <a:latin typeface="Arial" panose="020B0604020202020204" pitchFamily="34" charset="0"/>
              </a:rPr>
              <a:t>their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relationships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are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well-defined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Data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integrity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:</a:t>
            </a:r>
            <a:r>
              <a:rPr lang="ru-RU" altLang="ru-RU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br>
              <a:rPr lang="en-US" altLang="ru-RU" dirty="0">
                <a:solidFill>
                  <a:srgbClr val="90C226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If</a:t>
            </a:r>
            <a:r>
              <a:rPr lang="ru-RU" altLang="ru-RU" dirty="0">
                <a:latin typeface="Arial" panose="020B0604020202020204" pitchFamily="34" charset="0"/>
              </a:rPr>
              <a:t> a </a:t>
            </a:r>
            <a:r>
              <a:rPr lang="ru-RU" altLang="ru-RU" dirty="0" err="1">
                <a:latin typeface="Arial" panose="020B0604020202020204" pitchFamily="34" charset="0"/>
              </a:rPr>
              <a:t>customer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cannot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have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multiple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accounts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with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same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number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system </a:t>
            </a:r>
            <a:r>
              <a:rPr lang="ru-RU" altLang="ru-RU" dirty="0" err="1">
                <a:latin typeface="Arial" panose="020B0604020202020204" pitchFamily="34" charset="0"/>
              </a:rPr>
              <a:t>will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prevent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such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error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Powerful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queries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:</a:t>
            </a:r>
            <a:r>
              <a:rPr lang="ru-RU" altLang="ru-RU" dirty="0">
                <a:solidFill>
                  <a:srgbClr val="90C226"/>
                </a:solidFill>
                <a:latin typeface="Arial" panose="020B0604020202020204" pitchFamily="34" charset="0"/>
              </a:rPr>
              <a:t> </a:t>
            </a:r>
            <a:br>
              <a:rPr lang="en-US" altLang="ru-RU" dirty="0">
                <a:solidFill>
                  <a:srgbClr val="90C226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With</a:t>
            </a:r>
            <a:r>
              <a:rPr lang="ru-RU" altLang="ru-RU" dirty="0">
                <a:latin typeface="Arial" panose="020B0604020202020204" pitchFamily="34" charset="0"/>
              </a:rPr>
              <a:t> SQL, </a:t>
            </a:r>
            <a:r>
              <a:rPr lang="ru-RU" altLang="ru-RU" dirty="0" err="1">
                <a:latin typeface="Arial" panose="020B0604020202020204" pitchFamily="34" charset="0"/>
              </a:rPr>
              <a:t>you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can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easily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retrieve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necessary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even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if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it</a:t>
            </a:r>
            <a:r>
              <a:rPr lang="ru-RU" altLang="ru-RU" dirty="0">
                <a:latin typeface="Arial" panose="020B0604020202020204" pitchFamily="34" charset="0"/>
              </a:rPr>
              <a:t> is </a:t>
            </a:r>
            <a:r>
              <a:rPr lang="ru-RU" altLang="ru-RU" dirty="0" err="1">
                <a:latin typeface="Arial" panose="020B0604020202020204" pitchFamily="34" charset="0"/>
              </a:rPr>
              <a:t>stored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different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tables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592172" y="1729048"/>
            <a:ext cx="4448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</a:t>
            </a:r>
            <a:r>
              <a:rPr lang="ru-RU" altLang="ru-RU" b="1" dirty="0" err="1">
                <a:solidFill>
                  <a:schemeClr val="accent5"/>
                </a:solidFill>
                <a:latin typeface="Arial" panose="020B0604020202020204" pitchFamily="34" charset="0"/>
              </a:rPr>
              <a:t>Scalability</a:t>
            </a:r>
            <a:r>
              <a:rPr lang="ru-RU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chemeClr val="accent5"/>
                </a:solidFill>
                <a:latin typeface="Arial" panose="020B0604020202020204" pitchFamily="34" charset="0"/>
              </a:rPr>
              <a:t>issues</a:t>
            </a:r>
            <a:r>
              <a:rPr lang="ru-RU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:</a:t>
            </a:r>
            <a:r>
              <a:rPr lang="ru-RU" altLang="ru-RU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br>
              <a:rPr lang="en-US" altLang="ru-RU" dirty="0">
                <a:solidFill>
                  <a:schemeClr val="accent5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As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your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business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grows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amount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of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increases</a:t>
            </a:r>
            <a:r>
              <a:rPr lang="ru-RU" altLang="ru-RU" dirty="0">
                <a:latin typeface="Arial" panose="020B0604020202020204" pitchFamily="34" charset="0"/>
              </a:rPr>
              <a:t>, and a </a:t>
            </a:r>
            <a:r>
              <a:rPr lang="ru-RU" altLang="ru-RU" dirty="0" err="1">
                <a:latin typeface="Arial" panose="020B0604020202020204" pitchFamily="34" charset="0"/>
              </a:rPr>
              <a:t>relational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database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may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become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too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slow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endParaRPr lang="ru-RU" altLang="ru-RU" dirty="0"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</a:t>
            </a:r>
            <a:r>
              <a:rPr lang="ru-RU" altLang="ru-RU" b="1" dirty="0" err="1">
                <a:solidFill>
                  <a:schemeClr val="accent5"/>
                </a:solidFill>
                <a:latin typeface="Arial" panose="020B0604020202020204" pitchFamily="34" charset="0"/>
              </a:rPr>
              <a:t>Fixed</a:t>
            </a:r>
            <a:r>
              <a:rPr lang="ru-RU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ru-RU" altLang="ru-RU" b="1" dirty="0" err="1">
                <a:solidFill>
                  <a:schemeClr val="accent5"/>
                </a:solidFill>
                <a:latin typeface="Arial" panose="020B0604020202020204" pitchFamily="34" charset="0"/>
              </a:rPr>
              <a:t>structure</a:t>
            </a:r>
            <a:r>
              <a:rPr lang="ru-RU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:</a:t>
            </a:r>
            <a:r>
              <a:rPr lang="ru-RU" altLang="ru-RU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br>
              <a:rPr lang="en-US" altLang="ru-RU" dirty="0">
                <a:solidFill>
                  <a:schemeClr val="accent5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Modifying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database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structure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such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adding</a:t>
            </a:r>
            <a:r>
              <a:rPr lang="ru-RU" altLang="ru-RU" dirty="0">
                <a:latin typeface="Arial" panose="020B0604020202020204" pitchFamily="34" charset="0"/>
              </a:rPr>
              <a:t> a </a:t>
            </a:r>
            <a:r>
              <a:rPr lang="ru-RU" altLang="ru-RU" dirty="0" err="1">
                <a:latin typeface="Arial" panose="020B0604020202020204" pitchFamily="34" charset="0"/>
              </a:rPr>
              <a:t>new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column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or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table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can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be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challenging</a:t>
            </a:r>
            <a:r>
              <a:rPr lang="ru-RU" altLang="ru-RU" dirty="0">
                <a:latin typeface="Arial" panose="020B0604020202020204" pitchFamily="34" charset="0"/>
              </a:rPr>
              <a:t> and </a:t>
            </a:r>
            <a:r>
              <a:rPr lang="ru-RU" altLang="ru-RU" dirty="0" err="1">
                <a:latin typeface="Arial" panose="020B0604020202020204" pitchFamily="34" charset="0"/>
              </a:rPr>
              <a:t>time-consuming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141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Relational Databases: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90C226"/>
                </a:solidFill>
              </a:rPr>
              <a:t>MySQL: </a:t>
            </a:r>
            <a:r>
              <a:rPr lang="en-US" dirty="0"/>
              <a:t>A popular open-source relational database, widely used for web applications.</a:t>
            </a:r>
          </a:p>
          <a:p>
            <a:r>
              <a:rPr lang="en-US" b="1" dirty="0">
                <a:solidFill>
                  <a:srgbClr val="90C226"/>
                </a:solidFill>
              </a:rPr>
              <a:t>PostgreSQL: </a:t>
            </a:r>
            <a:r>
              <a:rPr lang="en-US" dirty="0"/>
              <a:t>A powerful object-relational database that supports complex queries and transactions.</a:t>
            </a:r>
          </a:p>
          <a:p>
            <a:r>
              <a:rPr lang="en-US" b="1" dirty="0">
                <a:solidFill>
                  <a:srgbClr val="90C226"/>
                </a:solidFill>
              </a:rPr>
              <a:t>Microsoft SQL Server: </a:t>
            </a:r>
            <a:r>
              <a:rPr lang="en-US" dirty="0"/>
              <a:t>A proprietary relational database with extensive business and analytics tools.</a:t>
            </a:r>
          </a:p>
          <a:p>
            <a:r>
              <a:rPr lang="en-US" b="1" dirty="0">
                <a:solidFill>
                  <a:srgbClr val="90C226"/>
                </a:solidFill>
              </a:rPr>
              <a:t>SQLite: </a:t>
            </a:r>
            <a:r>
              <a:rPr lang="en-US" dirty="0"/>
              <a:t>A lightweight relational database embedded in applications, used for local databases.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871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Non-relational databases (NoSQL)</a:t>
            </a:r>
            <a:br>
              <a:rPr lang="ru-RU" dirty="0"/>
            </a:br>
            <a:r>
              <a:rPr lang="en-US" sz="2800" dirty="0"/>
              <a:t>Document-oriented databases</a:t>
            </a:r>
            <a:endParaRPr lang="ru-RU" sz="2800" dirty="0"/>
          </a:p>
        </p:txBody>
      </p:sp>
      <p:sp>
        <p:nvSpPr>
          <p:cNvPr id="4" name="Rectangle 3"/>
          <p:cNvSpPr/>
          <p:nvPr/>
        </p:nvSpPr>
        <p:spPr>
          <a:xfrm>
            <a:off x="677334" y="2018939"/>
            <a:ext cx="5592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 is stored in the form of documents, usually in JSON format.</a:t>
            </a:r>
            <a:br>
              <a:rPr lang="ru-RU" dirty="0"/>
            </a:br>
            <a:br>
              <a:rPr lang="en-US" dirty="0"/>
            </a:br>
            <a:r>
              <a:rPr lang="en-US" dirty="0"/>
              <a:t>Example: MongoDB. </a:t>
            </a:r>
            <a:endParaRPr lang="ru-RU" dirty="0"/>
          </a:p>
        </p:txBody>
      </p:sp>
      <p:pic>
        <p:nvPicPr>
          <p:cNvPr id="5124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421" y="1817189"/>
            <a:ext cx="4703808" cy="4162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677334" y="336586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{</a:t>
            </a:r>
          </a:p>
          <a:p>
            <a:r>
              <a:rPr lang="ru-RU" dirty="0"/>
              <a:t>  “</a:t>
            </a:r>
            <a:r>
              <a:rPr lang="en-US" dirty="0" err="1"/>
              <a:t>client_ID</a:t>
            </a:r>
            <a:r>
              <a:rPr lang="ru-RU" dirty="0"/>
              <a:t>": </a:t>
            </a:r>
            <a:r>
              <a:rPr lang="ru-RU" dirty="0">
                <a:solidFill>
                  <a:schemeClr val="accent5"/>
                </a:solidFill>
              </a:rPr>
              <a:t>1</a:t>
            </a:r>
            <a:r>
              <a:rPr lang="ru-RU" dirty="0"/>
              <a:t>,</a:t>
            </a:r>
          </a:p>
          <a:p>
            <a:r>
              <a:rPr lang="ru-RU" dirty="0"/>
              <a:t>  "</a:t>
            </a:r>
            <a:r>
              <a:rPr lang="en-US" dirty="0"/>
              <a:t>Name</a:t>
            </a:r>
            <a:r>
              <a:rPr lang="ru-RU" dirty="0"/>
              <a:t>": </a:t>
            </a:r>
            <a:r>
              <a:rPr lang="ru-RU" dirty="0">
                <a:solidFill>
                  <a:srgbClr val="00B0F0"/>
                </a:solidFill>
              </a:rPr>
              <a:t>"</a:t>
            </a:r>
            <a:r>
              <a:rPr lang="en-US" dirty="0">
                <a:solidFill>
                  <a:srgbClr val="00B0F0"/>
                </a:solidFill>
              </a:rPr>
              <a:t>Aram</a:t>
            </a:r>
            <a:r>
              <a:rPr lang="ru-RU" dirty="0">
                <a:solidFill>
                  <a:srgbClr val="00B0F0"/>
                </a:solidFill>
              </a:rPr>
              <a:t>"</a:t>
            </a:r>
            <a:r>
              <a:rPr lang="ru-RU" dirty="0"/>
              <a:t>,</a:t>
            </a:r>
          </a:p>
          <a:p>
            <a:r>
              <a:rPr lang="ru-RU" dirty="0"/>
              <a:t>  "</a:t>
            </a:r>
            <a:r>
              <a:rPr lang="en-US" dirty="0"/>
              <a:t>Surname</a:t>
            </a:r>
            <a:r>
              <a:rPr lang="ru-RU" dirty="0"/>
              <a:t>": </a:t>
            </a:r>
            <a:r>
              <a:rPr lang="ru-RU" dirty="0">
                <a:solidFill>
                  <a:srgbClr val="00B0F0"/>
                </a:solidFill>
              </a:rPr>
              <a:t>"</a:t>
            </a:r>
            <a:r>
              <a:rPr lang="en-US" dirty="0">
                <a:solidFill>
                  <a:srgbClr val="00B0F0"/>
                </a:solidFill>
              </a:rPr>
              <a:t>Hakobyan</a:t>
            </a:r>
            <a:r>
              <a:rPr lang="ru-RU" dirty="0">
                <a:solidFill>
                  <a:srgbClr val="00B0F0"/>
                </a:solidFill>
              </a:rPr>
              <a:t>"</a:t>
            </a:r>
            <a:r>
              <a:rPr lang="ru-RU" dirty="0"/>
              <a:t>,</a:t>
            </a:r>
          </a:p>
          <a:p>
            <a:r>
              <a:rPr lang="ru-RU" dirty="0"/>
              <a:t>  “</a:t>
            </a:r>
            <a:r>
              <a:rPr lang="en-US" dirty="0" err="1"/>
              <a:t>phone_Number</a:t>
            </a:r>
            <a:r>
              <a:rPr lang="ru-RU" dirty="0"/>
              <a:t>": </a:t>
            </a:r>
            <a:r>
              <a:rPr lang="ru-RU" dirty="0">
                <a:solidFill>
                  <a:srgbClr val="00B0F0"/>
                </a:solidFill>
              </a:rPr>
              <a:t>"+37491123456"</a:t>
            </a:r>
            <a:r>
              <a:rPr lang="ru-RU" dirty="0"/>
              <a:t>,</a:t>
            </a:r>
          </a:p>
          <a:p>
            <a:r>
              <a:rPr lang="ru-RU" dirty="0"/>
              <a:t>  “</a:t>
            </a:r>
            <a:r>
              <a:rPr lang="en-US" dirty="0"/>
              <a:t>accounts</a:t>
            </a:r>
            <a:r>
              <a:rPr lang="ru-RU" dirty="0"/>
              <a:t>": [</a:t>
            </a:r>
          </a:p>
          <a:p>
            <a:r>
              <a:rPr lang="ru-RU" dirty="0"/>
              <a:t>    {“</a:t>
            </a:r>
            <a:r>
              <a:rPr lang="en-US" dirty="0" err="1"/>
              <a:t>account_Id</a:t>
            </a:r>
            <a:r>
              <a:rPr lang="ru-RU" dirty="0"/>
              <a:t>": </a:t>
            </a:r>
            <a:r>
              <a:rPr lang="ru-RU" dirty="0">
                <a:solidFill>
                  <a:schemeClr val="accent5"/>
                </a:solidFill>
              </a:rPr>
              <a:t>101</a:t>
            </a:r>
            <a:r>
              <a:rPr lang="ru-RU" dirty="0"/>
              <a:t>, “</a:t>
            </a:r>
            <a:r>
              <a:rPr lang="en-US" dirty="0"/>
              <a:t>Type</a:t>
            </a:r>
            <a:r>
              <a:rPr lang="ru-RU" dirty="0"/>
              <a:t>": </a:t>
            </a:r>
            <a:r>
              <a:rPr lang="ru-RU" dirty="0">
                <a:solidFill>
                  <a:srgbClr val="00B0F0"/>
                </a:solidFill>
              </a:rPr>
              <a:t>“</a:t>
            </a:r>
            <a:r>
              <a:rPr lang="en-US" dirty="0">
                <a:solidFill>
                  <a:srgbClr val="00B0F0"/>
                </a:solidFill>
              </a:rPr>
              <a:t>Debit</a:t>
            </a:r>
            <a:r>
              <a:rPr lang="ru-RU" dirty="0">
                <a:solidFill>
                  <a:srgbClr val="00B0F0"/>
                </a:solidFill>
              </a:rPr>
              <a:t>"</a:t>
            </a:r>
            <a:r>
              <a:rPr lang="ru-RU" dirty="0"/>
              <a:t>, “</a:t>
            </a:r>
            <a:r>
              <a:rPr lang="en-US" dirty="0"/>
              <a:t>Balance</a:t>
            </a:r>
            <a:r>
              <a:rPr lang="ru-RU" dirty="0"/>
              <a:t>": </a:t>
            </a:r>
            <a:r>
              <a:rPr lang="ru-RU" dirty="0">
                <a:solidFill>
                  <a:schemeClr val="accent5"/>
                </a:solidFill>
              </a:rPr>
              <a:t>1000</a:t>
            </a:r>
            <a:r>
              <a:rPr lang="ru-RU" dirty="0"/>
              <a:t>}</a:t>
            </a:r>
          </a:p>
          <a:p>
            <a:r>
              <a:rPr lang="ru-RU" dirty="0"/>
              <a:t>  ]</a:t>
            </a:r>
          </a:p>
          <a:p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1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Non-relational databases (NoSQL)</a:t>
            </a:r>
            <a:br>
              <a:rPr lang="ru-RU" dirty="0"/>
            </a:br>
            <a:r>
              <a:rPr lang="en-US" sz="2800" dirty="0"/>
              <a:t>Document-oriented databases</a:t>
            </a:r>
            <a:endParaRPr lang="ru-RU" dirty="0"/>
          </a:p>
        </p:txBody>
      </p:sp>
      <p:sp>
        <p:nvSpPr>
          <p:cNvPr id="4" name="Rectangle 3"/>
          <p:cNvSpPr/>
          <p:nvPr/>
        </p:nvSpPr>
        <p:spPr>
          <a:xfrm>
            <a:off x="677334" y="19304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 is stored as key-value pairs (similar to a dictionary).</a:t>
            </a:r>
          </a:p>
          <a:p>
            <a:br>
              <a:rPr lang="en-US" dirty="0"/>
            </a:br>
            <a:r>
              <a:rPr lang="en-US" dirty="0"/>
              <a:t>Example: </a:t>
            </a:r>
            <a:r>
              <a:rPr lang="en-US" dirty="0" err="1"/>
              <a:t>Redis</a:t>
            </a:r>
            <a:r>
              <a:rPr lang="en-US" dirty="0"/>
              <a:t>. </a:t>
            </a:r>
            <a:endParaRPr lang="ru-RU" dirty="0"/>
          </a:p>
          <a:p>
            <a:endParaRPr lang="ru-RU" dirty="0"/>
          </a:p>
        </p:txBody>
      </p:sp>
      <p:pic>
        <p:nvPicPr>
          <p:cNvPr id="7172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0" t="35430" r="24193" b="13370"/>
          <a:stretch/>
        </p:blipFill>
        <p:spPr bwMode="auto">
          <a:xfrm>
            <a:off x="7027816" y="1930400"/>
            <a:ext cx="4153989" cy="389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815914"/>
              </p:ext>
            </p:extLst>
          </p:nvPr>
        </p:nvGraphicFramePr>
        <p:xfrm>
          <a:off x="677334" y="3130729"/>
          <a:ext cx="590634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352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4362994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Key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ru-RU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{"Name": "Aram", "Surname": "Hakobyan", "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phone_Number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": "+37491123456"}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account:101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{"</a:t>
                      </a:r>
                      <a:r>
                        <a:rPr lang="fr-FR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client_ID</a:t>
                      </a:r>
                      <a:r>
                        <a:rPr lang="fr-FR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": 1, "Type": "</a:t>
                      </a:r>
                      <a:r>
                        <a:rPr lang="fr-FR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Debit</a:t>
                      </a:r>
                      <a:r>
                        <a:rPr lang="fr-FR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", "Balance": 1000}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40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Non-relational databases (NoSQL)</a:t>
            </a:r>
            <a:br>
              <a:rPr lang="ru-RU" dirty="0"/>
            </a:br>
            <a:r>
              <a:rPr lang="en-US" sz="2800" dirty="0"/>
              <a:t>Columnar Database 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631491"/>
              </p:ext>
            </p:extLst>
          </p:nvPr>
        </p:nvGraphicFramePr>
        <p:xfrm>
          <a:off x="6081940" y="3179095"/>
          <a:ext cx="470854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300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1395558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2001688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Client</a:t>
                      </a:r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Surname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Aram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Hakobyan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Nvard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Sargsyan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Tigran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Vardanyan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2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Anahit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Grigoryan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8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Hovhannes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Petrosyan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13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Lilit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Abrahamyan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2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Karen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Melikyan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5247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078814"/>
              </p:ext>
            </p:extLst>
          </p:nvPr>
        </p:nvGraphicFramePr>
        <p:xfrm>
          <a:off x="757881" y="3179095"/>
          <a:ext cx="470854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300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1395558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  <a:gridCol w="2001688">
                  <a:extLst>
                    <a:ext uri="{9D8B030D-6E8A-4147-A177-3AD203B41FA5}">
                      <a16:colId xmlns:a16="http://schemas.microsoft.com/office/drawing/2014/main" val="507592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Client</a:t>
                      </a:r>
                      <a:r>
                        <a:rPr lang="en-US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ID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Surname</a:t>
                      </a:r>
                      <a:endParaRPr lang="ru-RU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Aram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Hakobyan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Nvard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Sargsyan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Tigran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Vardanyan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2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Anahit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Grigoryan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8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Hovhannes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Petrosyan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13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Lilit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Abrahamyan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2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Karen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Melikyan </a:t>
                      </a:r>
                      <a:endParaRPr lang="ru-RU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524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94955" y="3179095"/>
            <a:ext cx="1389809" cy="296672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750537" y="3546354"/>
            <a:ext cx="4715890" cy="421899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77334" y="2772853"/>
            <a:ext cx="2951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0C226"/>
                </a:solidFill>
              </a:rPr>
              <a:t>Relational Databases (SQL)</a:t>
            </a:r>
            <a:endParaRPr lang="ru-RU" dirty="0">
              <a:solidFill>
                <a:srgbClr val="90C226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74596" y="2772853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0C226"/>
                </a:solidFill>
              </a:rPr>
              <a:t>Columnar Database</a:t>
            </a:r>
            <a:r>
              <a:rPr lang="ru-RU" dirty="0">
                <a:solidFill>
                  <a:srgbClr val="90C226"/>
                </a:solidFill>
              </a:rPr>
              <a:t> (</a:t>
            </a:r>
            <a:r>
              <a:rPr lang="en-US" dirty="0">
                <a:solidFill>
                  <a:srgbClr val="90C226"/>
                </a:solidFill>
              </a:rPr>
              <a:t>No SQL</a:t>
            </a:r>
            <a:r>
              <a:rPr lang="ru-RU" dirty="0">
                <a:solidFill>
                  <a:srgbClr val="90C226"/>
                </a:solidFill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7334" y="1721787"/>
            <a:ext cx="8675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 is stored in columns, which is efficient for large volumes of data.</a:t>
            </a:r>
            <a:br>
              <a:rPr lang="ru-RU" dirty="0"/>
            </a:br>
            <a:br>
              <a:rPr lang="en-US" dirty="0"/>
            </a:br>
            <a:r>
              <a:rPr lang="en-US" dirty="0"/>
              <a:t>Example: Cassandra is used for processing data about a large number of users.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818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Non-relational databases (NoSQL)</a:t>
            </a:r>
            <a:br>
              <a:rPr lang="ru-RU" dirty="0"/>
            </a:br>
            <a:r>
              <a:rPr lang="en-US" sz="2800" dirty="0"/>
              <a:t>Graph databases</a:t>
            </a:r>
            <a:endParaRPr lang="ru-RU" dirty="0"/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00" t="34284" r="48263" b="14516"/>
          <a:stretch/>
        </p:blipFill>
        <p:spPr bwMode="auto">
          <a:xfrm>
            <a:off x="7027815" y="1850102"/>
            <a:ext cx="4153989" cy="389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77334" y="18501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 is stored as graphs with nodes and edges (relationships).</a:t>
            </a:r>
            <a:br>
              <a:rPr lang="ru-RU" dirty="0"/>
            </a:br>
            <a:br>
              <a:rPr lang="en-US" dirty="0"/>
            </a:br>
            <a:r>
              <a:rPr lang="en-US" dirty="0"/>
              <a:t>Example: Neo4j is used for social networks where users are connected to each other.</a:t>
            </a:r>
            <a:endParaRPr lang="ru-RU" dirty="0"/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507428"/>
              </p:ext>
            </p:extLst>
          </p:nvPr>
        </p:nvGraphicFramePr>
        <p:xfrm>
          <a:off x="772161" y="3432287"/>
          <a:ext cx="6001173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168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  <a:gridCol w="3910005">
                  <a:extLst>
                    <a:ext uri="{9D8B030D-6E8A-4147-A177-3AD203B41FA5}">
                      <a16:colId xmlns:a16="http://schemas.microsoft.com/office/drawing/2014/main" val="2626979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Nodes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Edges</a:t>
                      </a:r>
                      <a:endParaRPr lang="ru-RU" sz="18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{  "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client_ID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": 1,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"Name": "Aram",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"Surname": "Hakobyan",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"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phone_Number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": "+37491123456"}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{ "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account_Id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": 101,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"Type": "Debit",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"Balance": 1000}</a:t>
                      </a:r>
                      <a:endParaRPr lang="fr-FR" sz="18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37507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097966"/>
              </p:ext>
            </p:extLst>
          </p:nvPr>
        </p:nvGraphicFramePr>
        <p:xfrm>
          <a:off x="769499" y="6011104"/>
          <a:ext cx="104123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2305">
                  <a:extLst>
                    <a:ext uri="{9D8B030D-6E8A-4147-A177-3AD203B41FA5}">
                      <a16:colId xmlns:a16="http://schemas.microsoft.com/office/drawing/2014/main" val="4085106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Relationships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3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(:Client {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client_ID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: 1}) -[:HAS_ACCOUNT]-&gt; (:Account {</a:t>
                      </a:r>
                      <a:r>
                        <a:rPr lang="en-US" sz="18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account_Id</a:t>
                      </a:r>
                      <a:r>
                        <a:rPr lang="en-US" sz="18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: 101})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71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35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93386" cy="1320800"/>
          </a:xfrm>
        </p:spPr>
        <p:txBody>
          <a:bodyPr/>
          <a:lstStyle/>
          <a:p>
            <a:r>
              <a:rPr lang="en-US" dirty="0"/>
              <a:t>Pros and Cons of Non-relational Databases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77333" y="1729048"/>
            <a:ext cx="44445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ru-RU" altLang="ru-RU" b="1" dirty="0" err="1">
                <a:solidFill>
                  <a:srgbClr val="90C226"/>
                </a:solidFill>
                <a:latin typeface="Arial" panose="020B0604020202020204" pitchFamily="34" charset="0"/>
              </a:rPr>
              <a:t>Flexibility</a:t>
            </a:r>
            <a:r>
              <a:rPr lang="ru-RU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latin typeface="Arial" panose="020B0604020202020204" pitchFamily="34" charset="0"/>
              </a:rPr>
              <a:t>Allows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storing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different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types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of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without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need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to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define</a:t>
            </a:r>
            <a:r>
              <a:rPr lang="ru-RU" altLang="ru-RU" dirty="0">
                <a:latin typeface="Arial" panose="020B0604020202020204" pitchFamily="34" charset="0"/>
              </a:rPr>
              <a:t> a </a:t>
            </a:r>
            <a:r>
              <a:rPr lang="ru-RU" altLang="ru-RU" dirty="0" err="1">
                <a:latin typeface="Arial" panose="020B0604020202020204" pitchFamily="34" charset="0"/>
              </a:rPr>
              <a:t>structure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advance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Scalability:</a:t>
            </a:r>
            <a:br>
              <a:rPr lang="en-US" altLang="ru-RU" dirty="0">
                <a:solidFill>
                  <a:srgbClr val="90C226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Easily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increases</a:t>
            </a:r>
            <a:r>
              <a:rPr lang="ru-RU" altLang="ru-RU" dirty="0">
                <a:latin typeface="Arial" panose="020B0604020202020204" pitchFamily="34" charset="0"/>
              </a:rPr>
              <a:t> system </a:t>
            </a:r>
            <a:r>
              <a:rPr lang="ru-RU" altLang="ru-RU" dirty="0" err="1">
                <a:latin typeface="Arial" panose="020B0604020202020204" pitchFamily="34" charset="0"/>
              </a:rPr>
              <a:t>capacity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by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adding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new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servers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ru-RU" dirty="0">
                <a:solidFill>
                  <a:srgbClr val="90C226"/>
                </a:solidFill>
              </a:rPr>
              <a:t>✅</a:t>
            </a:r>
            <a:r>
              <a:rPr lang="ru-RU" dirty="0"/>
              <a:t> </a:t>
            </a:r>
            <a:r>
              <a:rPr lang="en-US" altLang="ru-RU" b="1" dirty="0">
                <a:solidFill>
                  <a:srgbClr val="90C226"/>
                </a:solidFill>
                <a:latin typeface="Arial" panose="020B0604020202020204" pitchFamily="34" charset="0"/>
              </a:rPr>
              <a:t>Suitable for big data: </a:t>
            </a:r>
            <a:br>
              <a:rPr lang="en-US" altLang="ru-RU" dirty="0">
                <a:solidFill>
                  <a:srgbClr val="90C226"/>
                </a:solidFill>
                <a:latin typeface="Arial" panose="020B0604020202020204" pitchFamily="34" charset="0"/>
              </a:rPr>
            </a:br>
            <a:r>
              <a:rPr lang="en-US" altLang="ru-RU" dirty="0">
                <a:latin typeface="Arial" panose="020B0604020202020204" pitchFamily="34" charset="0"/>
              </a:rPr>
              <a:t>Handles large volumes of information more efficiently.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592172" y="1729048"/>
            <a:ext cx="44488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</a:t>
            </a:r>
            <a:r>
              <a:rPr lang="en-US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Lack of standardization: </a:t>
            </a:r>
            <a:br>
              <a:rPr lang="en-US" altLang="ru-RU" dirty="0">
                <a:solidFill>
                  <a:schemeClr val="accent5"/>
                </a:solidFill>
                <a:latin typeface="Arial" panose="020B0604020202020204" pitchFamily="34" charset="0"/>
              </a:rPr>
            </a:br>
            <a:r>
              <a:rPr lang="en-US" altLang="ru-RU" dirty="0">
                <a:latin typeface="Arial" panose="020B0604020202020204" pitchFamily="34" charset="0"/>
              </a:rPr>
              <a:t>No universal query language; each type of database has its own specifics.</a:t>
            </a:r>
          </a:p>
          <a:p>
            <a:endParaRPr lang="ru-RU" altLang="ru-RU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5"/>
                </a:solidFill>
              </a:rPr>
              <a:t>❌</a:t>
            </a:r>
            <a:r>
              <a:rPr lang="en-US" dirty="0"/>
              <a:t> </a:t>
            </a:r>
            <a:r>
              <a:rPr lang="en-US" altLang="ru-RU" b="1" dirty="0">
                <a:solidFill>
                  <a:schemeClr val="accent5"/>
                </a:solidFill>
                <a:latin typeface="Arial" panose="020B0604020202020204" pitchFamily="34" charset="0"/>
              </a:rPr>
              <a:t>Limited transaction support: </a:t>
            </a:r>
            <a:br>
              <a:rPr lang="en-US" altLang="ru-RU" dirty="0">
                <a:solidFill>
                  <a:schemeClr val="accent5"/>
                </a:solidFill>
                <a:latin typeface="Arial" panose="020B0604020202020204" pitchFamily="34" charset="0"/>
              </a:rPr>
            </a:br>
            <a:r>
              <a:rPr lang="ru-RU" altLang="ru-RU" dirty="0" err="1">
                <a:latin typeface="Arial" panose="020B0604020202020204" pitchFamily="34" charset="0"/>
              </a:rPr>
              <a:t>Not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all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databases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follow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the</a:t>
            </a:r>
            <a:r>
              <a:rPr lang="ru-RU" altLang="ru-RU" dirty="0">
                <a:latin typeface="Arial" panose="020B0604020202020204" pitchFamily="34" charset="0"/>
              </a:rPr>
              <a:t> ACID </a:t>
            </a:r>
            <a:r>
              <a:rPr lang="ru-RU" altLang="ru-RU" dirty="0" err="1">
                <a:latin typeface="Arial" panose="020B0604020202020204" pitchFamily="34" charset="0"/>
              </a:rPr>
              <a:t>principles</a:t>
            </a:r>
            <a:r>
              <a:rPr lang="ru-RU" altLang="ru-RU" dirty="0">
                <a:latin typeface="Arial" panose="020B0604020202020204" pitchFamily="34" charset="0"/>
              </a:rPr>
              <a:t>, </a:t>
            </a:r>
            <a:r>
              <a:rPr lang="ru-RU" altLang="ru-RU" dirty="0" err="1">
                <a:latin typeface="Arial" panose="020B0604020202020204" pitchFamily="34" charset="0"/>
              </a:rPr>
              <a:t>which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ensure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data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 err="1">
                <a:latin typeface="Arial" panose="020B0604020202020204" pitchFamily="34" charset="0"/>
              </a:rPr>
              <a:t>integrity</a:t>
            </a:r>
            <a:r>
              <a:rPr lang="ru-RU" altLang="ru-RU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1666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79647" cy="1320800"/>
          </a:xfrm>
        </p:spPr>
        <p:txBody>
          <a:bodyPr/>
          <a:lstStyle/>
          <a:p>
            <a:r>
              <a:rPr lang="en-US" dirty="0"/>
              <a:t>Example of Non-relational</a:t>
            </a:r>
            <a:r>
              <a:rPr lang="ru-RU" dirty="0"/>
              <a:t> </a:t>
            </a:r>
            <a:r>
              <a:rPr lang="en-US" dirty="0"/>
              <a:t>Databases: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MongoDB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document-oriented database that uses JSON-like documents to store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Cassandra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with high scalability and fault tolerance, suitable for large volumes of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CouchDB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with high scalability and fault tolerance, suitable for large volumes of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Redis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An in-memory key-value database used for fast data access and caching.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Elasticsearch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database for full-text search and real-time analysis of large data volumes.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Yandex</a:t>
            </a:r>
            <a:r>
              <a:rPr lang="ru-RU" sz="1900" b="1" dirty="0">
                <a:solidFill>
                  <a:srgbClr val="90C226"/>
                </a:solidFill>
              </a:rPr>
              <a:t> </a:t>
            </a:r>
            <a:r>
              <a:rPr lang="ru-RU" sz="1900" b="1" dirty="0" err="1">
                <a:solidFill>
                  <a:srgbClr val="90C226"/>
                </a:solidFill>
              </a:rPr>
              <a:t>ClickHouse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for analytics, optimized for processing large amounts of data in real time with high speed.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182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Non-relational Databases: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MongoDB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document-oriented database that uses JSON-like documents to store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Cassandra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with high scalability and fault tolerance, suitable for large volumes of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CouchDB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with high scalability and fault tolerance, suitable for large volumes of data.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Redis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An in-memory key-value database used for fast data access and caching.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Elasticsearch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database for full-text search and real-time analysis of large data volumes.</a:t>
            </a:r>
            <a:endParaRPr lang="ru-RU" dirty="0"/>
          </a:p>
          <a:p>
            <a:pPr fontAlgn="base"/>
            <a:r>
              <a:rPr lang="ru-RU" sz="1900" b="1" dirty="0" err="1">
                <a:solidFill>
                  <a:srgbClr val="90C226"/>
                </a:solidFill>
              </a:rPr>
              <a:t>Yandex</a:t>
            </a:r>
            <a:r>
              <a:rPr lang="ru-RU" sz="1900" b="1" dirty="0">
                <a:solidFill>
                  <a:srgbClr val="90C226"/>
                </a:solidFill>
              </a:rPr>
              <a:t> </a:t>
            </a:r>
            <a:r>
              <a:rPr lang="ru-RU" sz="1900" b="1" dirty="0" err="1">
                <a:solidFill>
                  <a:srgbClr val="90C226"/>
                </a:solidFill>
              </a:rPr>
              <a:t>ClickHouse</a:t>
            </a:r>
            <a:r>
              <a:rPr lang="ru-RU" sz="1900" b="1" dirty="0">
                <a:solidFill>
                  <a:srgbClr val="90C226"/>
                </a:solidFill>
              </a:rPr>
              <a:t>: </a:t>
            </a:r>
            <a:r>
              <a:rPr lang="en-US" dirty="0"/>
              <a:t>A columnar database for analytics, optimized for processing large amounts of data in real time with high speed.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7349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SQL and NoSQL:</a:t>
            </a:r>
            <a:endParaRPr lang="ru-RU" dirty="0"/>
          </a:p>
        </p:txBody>
      </p:sp>
      <p:graphicFrame>
        <p:nvGraphicFramePr>
          <p:cNvPr id="17" name="Content Placeholder 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328885"/>
              </p:ext>
            </p:extLst>
          </p:nvPr>
        </p:nvGraphicFramePr>
        <p:xfrm>
          <a:off x="677334" y="1735497"/>
          <a:ext cx="10845443" cy="4449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046">
                  <a:extLst>
                    <a:ext uri="{9D8B030D-6E8A-4147-A177-3AD203B41FA5}">
                      <a16:colId xmlns:a16="http://schemas.microsoft.com/office/drawing/2014/main" val="2032545954"/>
                    </a:ext>
                  </a:extLst>
                </a:gridCol>
                <a:gridCol w="4304936">
                  <a:extLst>
                    <a:ext uri="{9D8B030D-6E8A-4147-A177-3AD203B41FA5}">
                      <a16:colId xmlns:a16="http://schemas.microsoft.com/office/drawing/2014/main" val="1686304607"/>
                    </a:ext>
                  </a:extLst>
                </a:gridCol>
                <a:gridCol w="4133461">
                  <a:extLst>
                    <a:ext uri="{9D8B030D-6E8A-4147-A177-3AD203B41FA5}">
                      <a16:colId xmlns:a16="http://schemas.microsoft.com/office/drawing/2014/main" val="2289857250"/>
                    </a:ext>
                  </a:extLst>
                </a:gridCol>
              </a:tblGrid>
              <a:tr h="301144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SQL (Relational Databases)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NoSQL (Non-Relational Databases)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326778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 dirty="0"/>
                        <a:t>Data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Tables (rows and 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Documents (JSON, BSON, XML), key-value, graphs, columnar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500316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 dirty="0"/>
                        <a:t>Schema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Fixed schema, complex to modify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Flexible schema, does not require strict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596499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/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Numbers, strings, dates,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Depends on the database type (text, JSON, images)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228925"/>
                  </a:ext>
                </a:extLst>
              </a:tr>
              <a:tr h="154904">
                <a:tc>
                  <a:txBody>
                    <a:bodyPr/>
                    <a:lstStyle/>
                    <a:p>
                      <a:r>
                        <a:rPr lang="en-US" sz="1400" dirty="0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Vertical (adding more powerful servers)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Horizontal (distributed across clusters)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614580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 dirty="0"/>
                        <a:t>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Requires a strict 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Flexible schema (new fields can be added dynamically)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813390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/>
                        <a:t>Example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MySQL, PostgreSQL, Microsoft SQL Server, 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MongoDB, Cassandra, CouchDB, Redis, ClickHouse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688026"/>
                  </a:ext>
                </a:extLst>
              </a:tr>
              <a:tr h="263337">
                <a:tc>
                  <a:txBody>
                    <a:bodyPr/>
                    <a:lstStyle/>
                    <a:p>
                      <a:r>
                        <a:rPr lang="en-US" sz="1400"/>
                        <a:t>Query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SQL (SELECT, JOIN, GROUP BY, ORDER BY,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 query languages (MongoDB Query Language, CQL for Cassandra)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01996"/>
                  </a:ext>
                </a:extLst>
              </a:tr>
              <a:tr h="154904">
                <a:tc>
                  <a:txBody>
                    <a:bodyPr/>
                    <a:lstStyle/>
                    <a:p>
                      <a:r>
                        <a:rPr lang="en-US" sz="1400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Full ACID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ACID support in most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464401"/>
                  </a:ext>
                </a:extLst>
              </a:tr>
              <a:tr h="365609">
                <a:tc>
                  <a:txBody>
                    <a:bodyPr/>
                    <a:lstStyle/>
                    <a:p>
                      <a:r>
                        <a:rPr lang="en-US" sz="1400"/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Financial systems, accounting systems (ERP, CRM)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Big Data, analytics, social media, 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426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3375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12003</TotalTime>
  <Words>1582</Words>
  <Application>Microsoft Office PowerPoint</Application>
  <PresentationFormat>Widescreen</PresentationFormat>
  <Paragraphs>251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Introduction to databases and SQL</vt:lpstr>
      <vt:lpstr>What is a database?</vt:lpstr>
      <vt:lpstr>Why databases are necessary?</vt:lpstr>
      <vt:lpstr>PowerPoint Presentation</vt:lpstr>
      <vt:lpstr>Relational Databases (SQL)</vt:lpstr>
      <vt:lpstr>Relational Databases (SQL)</vt:lpstr>
      <vt:lpstr>Key Terms</vt:lpstr>
      <vt:lpstr>Pros and Cons of Relational Databases</vt:lpstr>
      <vt:lpstr>Example of Relational Databases:</vt:lpstr>
      <vt:lpstr>Non-relational databases (NoSQL) Document-oriented databases</vt:lpstr>
      <vt:lpstr>Non-relational databases (NoSQL) Document-oriented databases</vt:lpstr>
      <vt:lpstr>Non-relational databases (NoSQL) Columnar Database </vt:lpstr>
      <vt:lpstr>Non-relational databases (NoSQL) Graph databases</vt:lpstr>
      <vt:lpstr>Pros and Cons of Non-relational Databases</vt:lpstr>
      <vt:lpstr>Example of Non-relational Databases:</vt:lpstr>
      <vt:lpstr>Example of Non-relational Databases:</vt:lpstr>
      <vt:lpstr>Differences between SQL and NoSQL: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 and SQL</dc:title>
  <dc:creator>Aleksei Pichushkin</dc:creator>
  <cp:lastModifiedBy>Aleksei Pichushkin</cp:lastModifiedBy>
  <cp:revision>52</cp:revision>
  <dcterms:created xsi:type="dcterms:W3CDTF">2025-04-03T10:49:18Z</dcterms:created>
  <dcterms:modified xsi:type="dcterms:W3CDTF">2025-04-22T10:20:55Z</dcterms:modified>
</cp:coreProperties>
</file>