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86" r:id="rId2"/>
    <p:sldId id="273" r:id="rId3"/>
    <p:sldId id="279" r:id="rId4"/>
    <p:sldId id="280" r:id="rId5"/>
    <p:sldId id="281" r:id="rId6"/>
    <p:sldId id="282" r:id="rId7"/>
    <p:sldId id="284" r:id="rId8"/>
    <p:sldId id="285" r:id="rId9"/>
    <p:sldId id="283" r:id="rId10"/>
    <p:sldId id="274" r:id="rId11"/>
    <p:sldId id="275" r:id="rId12"/>
    <p:sldId id="276" r:id="rId13"/>
    <p:sldId id="278" r:id="rId14"/>
    <p:sldId id="288" r:id="rId15"/>
    <p:sldId id="287" r:id="rId16"/>
    <p:sldId id="28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AA5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542" autoAdjust="0"/>
  </p:normalViewPr>
  <p:slideViewPr>
    <p:cSldViewPr snapToGrid="0">
      <p:cViewPr varScale="1">
        <p:scale>
          <a:sx n="81" d="100"/>
          <a:sy n="81" d="100"/>
        </p:scale>
        <p:origin x="175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2FDC89-D88D-40BE-934B-52955C941B41}" type="datetimeFigureOut">
              <a:rPr lang="en-US" smtClean="0"/>
              <a:t>22/04/25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19C78-6F50-4953-9C79-39F9F1C899FC}" type="slidenum">
              <a:rPr lang="en-US" smtClean="0"/>
              <a:t>‹#›</a:t>
            </a:fld>
            <a:endParaRPr lang="en-US"/>
          </a:p>
        </p:txBody>
      </p:sp>
    </p:spTree>
    <p:extLst>
      <p:ext uri="{BB962C8B-B14F-4D97-AF65-F5344CB8AC3E}">
        <p14:creationId xmlns:p14="http://schemas.microsoft.com/office/powerpoint/2010/main" val="2643257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CA19C78-6F50-4953-9C79-39F9F1C899FC}" type="slidenum">
              <a:rPr lang="en-US" smtClean="0"/>
              <a:t>1</a:t>
            </a:fld>
            <a:endParaRPr lang="en-US"/>
          </a:p>
        </p:txBody>
      </p:sp>
    </p:spTree>
    <p:extLst>
      <p:ext uri="{BB962C8B-B14F-4D97-AF65-F5344CB8AC3E}">
        <p14:creationId xmlns:p14="http://schemas.microsoft.com/office/powerpoint/2010/main" val="6236209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SQL</a:t>
            </a:r>
            <a:r>
              <a:rPr lang="ru-RU" dirty="0"/>
              <a:t> — это стандартизированный язык программирования, используемый для управления и манипулирования реляционными базами данных.</a:t>
            </a:r>
            <a:br>
              <a:rPr lang="ru-RU" dirty="0"/>
            </a:br>
            <a:r>
              <a:rPr lang="ru-RU" dirty="0"/>
              <a:t>Он применяется для </a:t>
            </a:r>
            <a:r>
              <a:rPr lang="ru-RU" b="1" dirty="0"/>
              <a:t>запроса, вставки, обновления и удаления данных</a:t>
            </a:r>
            <a:r>
              <a:rPr lang="ru-RU" dirty="0"/>
              <a:t>, а также для управления структурой базы данных, такой как </a:t>
            </a:r>
            <a:r>
              <a:rPr lang="ru-RU" b="1" dirty="0"/>
              <a:t>таблицы, индексы и представления</a:t>
            </a:r>
            <a:r>
              <a:rPr lang="ru-RU" dirty="0"/>
              <a:t>.</a:t>
            </a:r>
            <a:br>
              <a:rPr lang="ru-RU" dirty="0"/>
            </a:br>
            <a:r>
              <a:rPr lang="ru-RU" dirty="0"/>
              <a:t>SQL широко используется для управления базами данных и позволяет пользователям взаимодействовать с ними с помощью команд и запросов.</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2</a:t>
            </a:fld>
            <a:endParaRPr lang="en-US"/>
          </a:p>
        </p:txBody>
      </p:sp>
    </p:spTree>
    <p:extLst>
      <p:ext uri="{BB962C8B-B14F-4D97-AF65-F5344CB8AC3E}">
        <p14:creationId xmlns:p14="http://schemas.microsoft.com/office/powerpoint/2010/main" val="4074980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Зарезервированные слова</a:t>
            </a:r>
            <a:r>
              <a:rPr lang="ru-RU" dirty="0"/>
              <a:t>, используемые для построения запросов и управления данными в базе данных.</a:t>
            </a:r>
            <a:br>
              <a:rPr lang="ru-RU" dirty="0"/>
            </a:br>
            <a:r>
              <a:rPr lang="ru-RU" dirty="0"/>
              <a:t>Они определяют структуру команд, таких как </a:t>
            </a:r>
            <a:r>
              <a:rPr lang="ru-RU" b="1" dirty="0"/>
              <a:t>выборка, обновление, удаление и создание объектов базы данных</a:t>
            </a:r>
            <a:r>
              <a:rPr lang="ru-RU" dirty="0"/>
              <a:t>.</a:t>
            </a:r>
            <a:br>
              <a:rPr lang="ru-RU" dirty="0"/>
            </a:br>
            <a:r>
              <a:rPr lang="ru-RU" dirty="0"/>
              <a:t>Ключевые слова являются </a:t>
            </a:r>
            <a:r>
              <a:rPr lang="ru-RU" b="1" dirty="0"/>
              <a:t>основой синтаксиса SQL</a:t>
            </a:r>
            <a:r>
              <a:rPr lang="ru-RU" dirty="0"/>
              <a:t> и не могут использоваться в качестве имен таблиц, столбцов или других объектов без специального экранирования.</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3</a:t>
            </a:fld>
            <a:endParaRPr lang="en-US"/>
          </a:p>
        </p:txBody>
      </p:sp>
    </p:spTree>
    <p:extLst>
      <p:ext uri="{BB962C8B-B14F-4D97-AF65-F5344CB8AC3E}">
        <p14:creationId xmlns:p14="http://schemas.microsoft.com/office/powerpoint/2010/main" val="7726722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Названия таблиц, столбцов, баз данных, представлений и других объектов.</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4</a:t>
            </a:fld>
            <a:endParaRPr lang="en-US"/>
          </a:p>
        </p:txBody>
      </p:sp>
    </p:spTree>
    <p:extLst>
      <p:ext uri="{BB962C8B-B14F-4D97-AF65-F5344CB8AC3E}">
        <p14:creationId xmlns:p14="http://schemas.microsoft.com/office/powerpoint/2010/main" val="3977407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Используются для выполнения операций сравнения, логики, арифметики и других.</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5</a:t>
            </a:fld>
            <a:endParaRPr lang="en-US"/>
          </a:p>
        </p:txBody>
      </p:sp>
    </p:spTree>
    <p:extLst>
      <p:ext uri="{BB962C8B-B14F-4D97-AF65-F5344CB8AC3E}">
        <p14:creationId xmlns:p14="http://schemas.microsoft.com/office/powerpoint/2010/main" val="7345191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Литералы — это постоянные значения, явно указанные в SQL-выражениях. Они представляют собой фиксированные значения, такие как строки, числа и даты.</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6</a:t>
            </a:fld>
            <a:endParaRPr lang="en-US"/>
          </a:p>
        </p:txBody>
      </p:sp>
    </p:spTree>
    <p:extLst>
      <p:ext uri="{BB962C8B-B14F-4D97-AF65-F5344CB8AC3E}">
        <p14:creationId xmlns:p14="http://schemas.microsoft.com/office/powerpoint/2010/main" val="3165962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Специальные символы — это знаки, используемые для структурирования или управления SQL-выражениями.</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7</a:t>
            </a:fld>
            <a:endParaRPr lang="en-US"/>
          </a:p>
        </p:txBody>
      </p:sp>
    </p:spTree>
    <p:extLst>
      <p:ext uri="{BB962C8B-B14F-4D97-AF65-F5344CB8AC3E}">
        <p14:creationId xmlns:p14="http://schemas.microsoft.com/office/powerpoint/2010/main" val="1844006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Функции — это встроенные инструменты SQL, используемые для обработки и преобразования данных. Они могут применяться в выражениях </a:t>
            </a:r>
            <a:r>
              <a:rPr lang="ru-RU" b="1" dirty="0"/>
              <a:t>SELECT</a:t>
            </a:r>
            <a:r>
              <a:rPr lang="ru-RU" dirty="0"/>
              <a:t>, </a:t>
            </a:r>
            <a:r>
              <a:rPr lang="ru-RU" b="1" dirty="0"/>
              <a:t>WHERE</a:t>
            </a:r>
            <a:r>
              <a:rPr lang="ru-RU" dirty="0"/>
              <a:t>, </a:t>
            </a:r>
            <a:r>
              <a:rPr lang="ru-RU" b="1" dirty="0"/>
              <a:t>ORDER BY</a:t>
            </a:r>
            <a:r>
              <a:rPr lang="ru-RU" dirty="0"/>
              <a:t> и других.</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8</a:t>
            </a:fld>
            <a:endParaRPr lang="en-US"/>
          </a:p>
        </p:txBody>
      </p:sp>
    </p:spTree>
    <p:extLst>
      <p:ext uri="{BB962C8B-B14F-4D97-AF65-F5344CB8AC3E}">
        <p14:creationId xmlns:p14="http://schemas.microsoft.com/office/powerpoint/2010/main" val="28176728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Псевдонимы в SQL используются для создания временных имен для таблиц или столбцов в запросах. Они помогают улучшить читаемость, упростить ссылки на данные и часто применяются при вычислениях или объединениях таблиц.</a:t>
            </a:r>
          </a:p>
          <a:p>
            <a:pPr>
              <a:buFont typeface="Arial" panose="020B0604020202020204" pitchFamily="34" charset="0"/>
              <a:buChar char="•"/>
            </a:pPr>
            <a:r>
              <a:rPr lang="ru-RU" b="1" dirty="0"/>
              <a:t>Псевдонимы столбцов</a:t>
            </a:r>
            <a:r>
              <a:rPr lang="ru-RU" dirty="0"/>
              <a:t>: используются для задания нового имени для столбца или вычисленного значения.</a:t>
            </a:r>
          </a:p>
          <a:p>
            <a:pPr>
              <a:buFont typeface="Arial" panose="020B0604020202020204" pitchFamily="34" charset="0"/>
              <a:buChar char="•"/>
            </a:pPr>
            <a:r>
              <a:rPr lang="ru-RU" b="1" dirty="0"/>
              <a:t>Псевдонимы таблиц</a:t>
            </a:r>
            <a:r>
              <a:rPr lang="ru-RU" dirty="0"/>
              <a:t>: используются для краткости, чтобы упростить ссылки на таблицы, особенно в сложных запросах с несколькими таблицами.</a:t>
            </a:r>
          </a:p>
          <a:p>
            <a:r>
              <a:rPr lang="ru-RU" dirty="0"/>
              <a:t>.</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9</a:t>
            </a:fld>
            <a:endParaRPr lang="en-US"/>
          </a:p>
        </p:txBody>
      </p:sp>
    </p:spTree>
    <p:extLst>
      <p:ext uri="{BB962C8B-B14F-4D97-AF65-F5344CB8AC3E}">
        <p14:creationId xmlns:p14="http://schemas.microsoft.com/office/powerpoint/2010/main" val="31912070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 команда SQL, используемая для извлечения данных из одной или нескольких таблиц базы данных. Она позволяет пользователям указать, какие столбцы данных необходимо получить, а также применить фильтрацию, сортировку и группировку результатов по определённым критериям.</a:t>
            </a:r>
            <a:br>
              <a:rPr lang="ru-RU" dirty="0"/>
            </a:br>
            <a:r>
              <a:rPr lang="ru-RU" dirty="0"/>
              <a:t>Оператор </a:t>
            </a:r>
            <a:r>
              <a:rPr lang="ru-RU" b="1" dirty="0"/>
              <a:t>SELECT</a:t>
            </a:r>
            <a:r>
              <a:rPr lang="ru-RU" dirty="0"/>
              <a:t> — один из самых часто используемых в SQL и является основой для запросов и анализа данных, хранящихся в реляционной базе данных.</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10</a:t>
            </a:fld>
            <a:endParaRPr lang="en-US"/>
          </a:p>
        </p:txBody>
      </p:sp>
    </p:spTree>
    <p:extLst>
      <p:ext uri="{BB962C8B-B14F-4D97-AF65-F5344CB8AC3E}">
        <p14:creationId xmlns:p14="http://schemas.microsoft.com/office/powerpoint/2010/main" val="12916617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 оператор SQL, используемый для указания таблицы или таблиц, из которых необходимо извлечь данные в запросе </a:t>
            </a:r>
            <a:r>
              <a:rPr lang="ru-RU" b="1" dirty="0"/>
              <a:t>SELECT</a:t>
            </a:r>
            <a:r>
              <a:rPr lang="ru-RU" dirty="0"/>
              <a:t>. Он указывает источник запрашиваемых данных и также может использоваться для объединения нескольких таблиц.</a:t>
            </a:r>
            <a:br>
              <a:rPr lang="ru-RU" dirty="0"/>
            </a:br>
            <a:r>
              <a:rPr lang="ru-RU" dirty="0"/>
              <a:t>Оператор </a:t>
            </a:r>
            <a:r>
              <a:rPr lang="ru-RU" b="1" dirty="0"/>
              <a:t>FROM</a:t>
            </a:r>
            <a:r>
              <a:rPr lang="ru-RU" dirty="0"/>
              <a:t> является ключевым при определении набора данных, к которому будут применяться другие SQL-операции, такие как фильтрация, сортировка или группировка.</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11</a:t>
            </a:fld>
            <a:endParaRPr lang="en-US"/>
          </a:p>
        </p:txBody>
      </p:sp>
    </p:spTree>
    <p:extLst>
      <p:ext uri="{BB962C8B-B14F-4D97-AF65-F5344CB8AC3E}">
        <p14:creationId xmlns:p14="http://schemas.microsoft.com/office/powerpoint/2010/main" val="19253675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Это ключевое слово SQL, используемое для фильтрации строк, которые соответствуют определённому условию. Оно позволяет выбрать только те записи, которые удовлетворяют заданным критериям.</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12</a:t>
            </a:fld>
            <a:endParaRPr lang="en-US"/>
          </a:p>
        </p:txBody>
      </p:sp>
    </p:spTree>
    <p:extLst>
      <p:ext uri="{BB962C8B-B14F-4D97-AF65-F5344CB8AC3E}">
        <p14:creationId xmlns:p14="http://schemas.microsoft.com/office/powerpoint/2010/main" val="1734322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Оператор </a:t>
            </a:r>
            <a:r>
              <a:rPr lang="ru-RU" b="1" dirty="0"/>
              <a:t>COUNT</a:t>
            </a:r>
            <a:r>
              <a:rPr lang="ru-RU" dirty="0"/>
              <a:t> в SQL — это функция, используемая для подсчёта числа строк, которые соответствуют заданному условию в запросе. Она может применяться к конкретному столбцу или ко всем строкам таблицы. Функция </a:t>
            </a:r>
            <a:r>
              <a:rPr lang="ru-RU" b="1" dirty="0"/>
              <a:t>COUNT</a:t>
            </a:r>
            <a:r>
              <a:rPr lang="ru-RU" dirty="0"/>
              <a:t> часто используется в комбинации с оператором </a:t>
            </a:r>
            <a:r>
              <a:rPr lang="ru-RU" b="1" dirty="0"/>
              <a:t>SELECT</a:t>
            </a:r>
            <a:r>
              <a:rPr lang="ru-RU" dirty="0"/>
              <a:t> для получения общего числа записей, строк или элементов.</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13</a:t>
            </a:fld>
            <a:endParaRPr lang="en-US"/>
          </a:p>
        </p:txBody>
      </p:sp>
    </p:spTree>
    <p:extLst>
      <p:ext uri="{BB962C8B-B14F-4D97-AF65-F5344CB8AC3E}">
        <p14:creationId xmlns:p14="http://schemas.microsoft.com/office/powerpoint/2010/main" val="2030499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GROUP BY</a:t>
            </a:r>
            <a:r>
              <a:rPr lang="ru-RU" dirty="0"/>
              <a:t> группирует строки с одинаковыми значениями в указанных столбцах, часто используется с агрегатными функциями, такими как </a:t>
            </a:r>
            <a:r>
              <a:rPr lang="ru-RU" b="1" dirty="0"/>
              <a:t>COUNT()</a:t>
            </a:r>
            <a:r>
              <a:rPr lang="ru-RU" dirty="0"/>
              <a:t>, </a:t>
            </a:r>
            <a:r>
              <a:rPr lang="ru-RU" b="1" dirty="0"/>
              <a:t>SUM()</a:t>
            </a:r>
            <a:r>
              <a:rPr lang="ru-RU" dirty="0"/>
              <a:t>, </a:t>
            </a:r>
            <a:r>
              <a:rPr lang="ru-RU" b="1" dirty="0"/>
              <a:t>AVG()</a:t>
            </a:r>
            <a:r>
              <a:rPr lang="ru-RU" dirty="0"/>
              <a:t>, чтобы выполнить вычисления по каждой группе.</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14</a:t>
            </a:fld>
            <a:endParaRPr lang="en-US"/>
          </a:p>
        </p:txBody>
      </p:sp>
    </p:spTree>
    <p:extLst>
      <p:ext uri="{BB962C8B-B14F-4D97-AF65-F5344CB8AC3E}">
        <p14:creationId xmlns:p14="http://schemas.microsoft.com/office/powerpoint/2010/main" val="21741096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HAVING</a:t>
            </a:r>
            <a:r>
              <a:rPr lang="ru-RU" dirty="0"/>
              <a:t> фильтрует данные после группировки, позволяя задавать условия для агрегированных данных. Это аналог </a:t>
            </a:r>
            <a:r>
              <a:rPr lang="ru-RU" b="1" dirty="0"/>
              <a:t>WHERE</a:t>
            </a:r>
            <a:r>
              <a:rPr lang="ru-RU" dirty="0"/>
              <a:t>, но используется для фильтрации результатов, полученных с помощью </a:t>
            </a:r>
            <a:r>
              <a:rPr lang="ru-RU" b="1" dirty="0"/>
              <a:t>GROUP BY</a:t>
            </a:r>
            <a:r>
              <a:rPr lang="ru-RU" dirty="0"/>
              <a:t>.</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15</a:t>
            </a:fld>
            <a:endParaRPr lang="en-US"/>
          </a:p>
        </p:txBody>
      </p:sp>
    </p:spTree>
    <p:extLst>
      <p:ext uri="{BB962C8B-B14F-4D97-AF65-F5344CB8AC3E}">
        <p14:creationId xmlns:p14="http://schemas.microsoft.com/office/powerpoint/2010/main" val="763172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b="1" dirty="0"/>
              <a:t>ORDER BY</a:t>
            </a:r>
            <a:r>
              <a:rPr lang="ru-RU" dirty="0"/>
              <a:t> сортирует результаты по одному или нескольким столбцам в порядке возрастания (ASC) или убывания (DESC). Это используется для организации данных в определённом порядке.</a:t>
            </a:r>
            <a:endParaRPr lang="en-US" dirty="0"/>
          </a:p>
        </p:txBody>
      </p:sp>
      <p:sp>
        <p:nvSpPr>
          <p:cNvPr id="4" name="Slide Number Placeholder 3"/>
          <p:cNvSpPr>
            <a:spLocks noGrp="1"/>
          </p:cNvSpPr>
          <p:nvPr>
            <p:ph type="sldNum" sz="quarter" idx="5"/>
          </p:nvPr>
        </p:nvSpPr>
        <p:spPr/>
        <p:txBody>
          <a:bodyPr/>
          <a:lstStyle/>
          <a:p>
            <a:fld id="{BCA19C78-6F50-4953-9C79-39F9F1C899FC}" type="slidenum">
              <a:rPr lang="en-US" smtClean="0"/>
              <a:t>16</a:t>
            </a:fld>
            <a:endParaRPr lang="en-US"/>
          </a:p>
        </p:txBody>
      </p:sp>
    </p:spTree>
    <p:extLst>
      <p:ext uri="{BB962C8B-B14F-4D97-AF65-F5344CB8AC3E}">
        <p14:creationId xmlns:p14="http://schemas.microsoft.com/office/powerpoint/2010/main" val="31656145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8795587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9470418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55300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22/04/25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703498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557326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62981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5303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22/04/25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4102753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42781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30545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29507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78374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065888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5735260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40010114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22/04/25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40784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22/04/25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8429778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 to databases and SQL</a:t>
            </a:r>
            <a:endParaRPr lang="ru-RU" dirty="0"/>
          </a:p>
        </p:txBody>
      </p:sp>
      <p:sp>
        <p:nvSpPr>
          <p:cNvPr id="3" name="Subtitle 2"/>
          <p:cNvSpPr>
            <a:spLocks noGrp="1"/>
          </p:cNvSpPr>
          <p:nvPr>
            <p:ph type="subTitle" idx="1"/>
          </p:nvPr>
        </p:nvSpPr>
        <p:spPr/>
        <p:txBody>
          <a:bodyPr/>
          <a:lstStyle/>
          <a:p>
            <a:r>
              <a:rPr lang="en-US" dirty="0" err="1"/>
              <a:t>Ameria</a:t>
            </a:r>
            <a:r>
              <a:rPr lang="en-US" dirty="0"/>
              <a:t> bank</a:t>
            </a:r>
            <a:br>
              <a:rPr lang="ru-RU" dirty="0"/>
            </a:br>
            <a:r>
              <a:rPr lang="en-US" dirty="0"/>
              <a:t>Lesson 2</a:t>
            </a:r>
            <a:endParaRPr lang="ru-RU" dirty="0"/>
          </a:p>
        </p:txBody>
      </p:sp>
    </p:spTree>
    <p:extLst>
      <p:ext uri="{BB962C8B-B14F-4D97-AF65-F5344CB8AC3E}">
        <p14:creationId xmlns:p14="http://schemas.microsoft.com/office/powerpoint/2010/main" val="3454599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Structured Query Language</a:t>
            </a:r>
            <a:r>
              <a:rPr lang="ru-RU" b="1" dirty="0"/>
              <a:t> (</a:t>
            </a:r>
            <a:r>
              <a:rPr lang="en-US" b="1" dirty="0"/>
              <a:t>SQL</a:t>
            </a:r>
            <a:r>
              <a:rPr lang="ru-RU" b="1" dirty="0"/>
              <a:t>)</a:t>
            </a:r>
            <a:endParaRPr lang="ru-RU" dirty="0"/>
          </a:p>
        </p:txBody>
      </p:sp>
      <p:sp>
        <p:nvSpPr>
          <p:cNvPr id="3" name="Content Placeholder 2"/>
          <p:cNvSpPr>
            <a:spLocks noGrp="1"/>
          </p:cNvSpPr>
          <p:nvPr>
            <p:ph idx="1"/>
          </p:nvPr>
        </p:nvSpPr>
        <p:spPr>
          <a:xfrm>
            <a:off x="677334" y="1600753"/>
            <a:ext cx="8596668" cy="2775304"/>
          </a:xfrm>
        </p:spPr>
        <p:txBody>
          <a:bodyPr>
            <a:normAutofit/>
          </a:bodyPr>
          <a:lstStyle/>
          <a:p>
            <a:pPr marL="0" indent="0">
              <a:buNone/>
            </a:pPr>
            <a:r>
              <a:rPr lang="ru-RU" sz="2100" b="1" dirty="0">
                <a:solidFill>
                  <a:srgbClr val="90C226"/>
                </a:solidFill>
              </a:rPr>
              <a:t>	</a:t>
            </a:r>
            <a:r>
              <a:rPr lang="en-US" sz="2100" b="1" dirty="0">
                <a:solidFill>
                  <a:srgbClr val="90C226"/>
                </a:solidFill>
              </a:rPr>
              <a:t>SQL</a:t>
            </a:r>
            <a:r>
              <a:rPr lang="en-US" b="1" dirty="0">
                <a:solidFill>
                  <a:srgbClr val="90C226"/>
                </a:solidFill>
              </a:rPr>
              <a:t> </a:t>
            </a:r>
            <a:r>
              <a:rPr lang="en-US" dirty="0"/>
              <a:t>is a standardized programming language used to manage and manipulate relational databases. </a:t>
            </a:r>
            <a:endParaRPr lang="ru-RU" dirty="0"/>
          </a:p>
          <a:p>
            <a:pPr marL="0" indent="0">
              <a:buNone/>
            </a:pPr>
            <a:br>
              <a:rPr lang="en-US" dirty="0"/>
            </a:br>
            <a:r>
              <a:rPr lang="ru-RU" dirty="0"/>
              <a:t>	</a:t>
            </a:r>
            <a:r>
              <a:rPr lang="en-US" dirty="0"/>
              <a:t>It is used for querying, inserting, updating, and deleting data, as well as managing database structures such as tables, indexes, and views.</a:t>
            </a:r>
            <a:endParaRPr lang="ru-RU" dirty="0"/>
          </a:p>
          <a:p>
            <a:pPr marL="0" indent="0">
              <a:buNone/>
            </a:pPr>
            <a:br>
              <a:rPr lang="en-US" dirty="0"/>
            </a:br>
            <a:r>
              <a:rPr lang="ru-RU" dirty="0"/>
              <a:t>	</a:t>
            </a:r>
            <a:r>
              <a:rPr lang="en-US" dirty="0"/>
              <a:t>SQL is widely used for database management and allows users to interact with databases through a series of commands and queries.</a:t>
            </a:r>
            <a:endParaRPr lang="ru-RU" dirty="0"/>
          </a:p>
        </p:txBody>
      </p:sp>
    </p:spTree>
    <p:extLst>
      <p:ext uri="{BB962C8B-B14F-4D97-AF65-F5344CB8AC3E}">
        <p14:creationId xmlns:p14="http://schemas.microsoft.com/office/powerpoint/2010/main" val="1107821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SQL Keywords</a:t>
            </a:r>
            <a:endParaRPr lang="ru-RU" dirty="0"/>
          </a:p>
        </p:txBody>
      </p:sp>
      <p:sp>
        <p:nvSpPr>
          <p:cNvPr id="3" name="Content Placeholder 2"/>
          <p:cNvSpPr>
            <a:spLocks noGrp="1"/>
          </p:cNvSpPr>
          <p:nvPr>
            <p:ph idx="1"/>
          </p:nvPr>
        </p:nvSpPr>
        <p:spPr>
          <a:xfrm>
            <a:off x="677334" y="1600753"/>
            <a:ext cx="8596668" cy="2775304"/>
          </a:xfrm>
        </p:spPr>
        <p:txBody>
          <a:bodyPr>
            <a:normAutofit/>
          </a:bodyPr>
          <a:lstStyle/>
          <a:p>
            <a:pPr marL="0" indent="0">
              <a:buNone/>
            </a:pPr>
            <a:r>
              <a:rPr lang="ru-RU" sz="2100" b="1" dirty="0">
                <a:solidFill>
                  <a:srgbClr val="90C226"/>
                </a:solidFill>
              </a:rPr>
              <a:t>	</a:t>
            </a:r>
            <a:r>
              <a:rPr lang="en-US" sz="2400" dirty="0"/>
              <a:t>Reserved words used to construct queries and manage data within a database.</a:t>
            </a:r>
            <a:br>
              <a:rPr lang="en-US" sz="2400" dirty="0"/>
            </a:br>
            <a:r>
              <a:rPr lang="en-US" sz="2400" dirty="0"/>
              <a:t>They define the structure of commands such as selecting, updating, deleting, and creating database objects.</a:t>
            </a:r>
            <a:br>
              <a:rPr lang="en-US" sz="2400" dirty="0"/>
            </a:br>
            <a:r>
              <a:rPr lang="en-US" sz="2400" dirty="0"/>
              <a:t>Keywords are the foundation of SQL syntax and cannot be used as table, column, or object names unless properly quoted.</a:t>
            </a: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4496714"/>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6" name="TextBox 5">
            <a:extLst>
              <a:ext uri="{FF2B5EF4-FFF2-40B4-BE49-F238E27FC236}">
                <a16:creationId xmlns:a16="http://schemas.microsoft.com/office/drawing/2014/main" id="{2CF10EC6-3AD2-E68B-70DE-7FC06AAA357E}"/>
              </a:ext>
            </a:extLst>
          </p:cNvPr>
          <p:cNvSpPr txBox="1"/>
          <p:nvPr/>
        </p:nvSpPr>
        <p:spPr>
          <a:xfrm>
            <a:off x="2336292" y="4610916"/>
            <a:ext cx="6099048" cy="646331"/>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WHERE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INSERT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UPDATE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DELETE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JOIN</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CREATE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DROP</a:t>
            </a:r>
            <a:r>
              <a:rPr kumimoji="0" lang="en-US" sz="1800" b="1" i="0" u="none" strike="noStrike" kern="1200" cap="none" spc="0" normalizeH="0" baseline="0" noProof="0" dirty="0">
                <a:ln>
                  <a:noFill/>
                </a:ln>
                <a:solidFill>
                  <a:prstClr val="black"/>
                </a:solidFill>
                <a:effectLst/>
                <a:uLnTx/>
                <a:uFillTx/>
                <a:latin typeface="Consolas" panose="020B0609020204030204" pitchFamily="49" charset="0"/>
                <a:ea typeface="+mn-ea"/>
                <a:cs typeface="+mn-cs"/>
              </a:rPr>
              <a:t>,</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 GROUP</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BY</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ORDER</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BY</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927025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Identifiers</a:t>
            </a:r>
            <a:endParaRPr lang="ru-RU" dirty="0"/>
          </a:p>
        </p:txBody>
      </p:sp>
      <p:sp>
        <p:nvSpPr>
          <p:cNvPr id="3" name="Content Placeholder 2"/>
          <p:cNvSpPr>
            <a:spLocks noGrp="1"/>
          </p:cNvSpPr>
          <p:nvPr>
            <p:ph idx="1"/>
          </p:nvPr>
        </p:nvSpPr>
        <p:spPr>
          <a:xfrm>
            <a:off x="677334" y="1600753"/>
            <a:ext cx="8596668" cy="2775304"/>
          </a:xfrm>
        </p:spPr>
        <p:txBody>
          <a:bodyPr>
            <a:normAutofit/>
          </a:bodyPr>
          <a:lstStyle/>
          <a:p>
            <a:pPr marL="0" indent="0">
              <a:buNone/>
            </a:pPr>
            <a:r>
              <a:rPr lang="ru-RU" sz="2100" b="1" dirty="0">
                <a:solidFill>
                  <a:srgbClr val="90C226"/>
                </a:solidFill>
              </a:rPr>
              <a:t>	</a:t>
            </a:r>
            <a:r>
              <a:rPr lang="en-US" sz="2400" dirty="0"/>
              <a:t> Names of tables, columns, databases, views, and other objects.</a:t>
            </a: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2911461"/>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6" name="TextBox 5">
            <a:extLst>
              <a:ext uri="{FF2B5EF4-FFF2-40B4-BE49-F238E27FC236}">
                <a16:creationId xmlns:a16="http://schemas.microsoft.com/office/drawing/2014/main" id="{2CF10EC6-3AD2-E68B-70DE-7FC06AAA357E}"/>
              </a:ext>
            </a:extLst>
          </p:cNvPr>
          <p:cNvSpPr txBox="1"/>
          <p:nvPr/>
        </p:nvSpPr>
        <p:spPr>
          <a:xfrm>
            <a:off x="2336292" y="3025663"/>
            <a:ext cx="6099048" cy="369332"/>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Customer</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ru-RU"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6464"/>
                </a:solidFill>
                <a:effectLst/>
                <a:uLnTx/>
                <a:uFillTx/>
                <a:latin typeface="Consolas" panose="020B0609020204030204" pitchFamily="49" charset="0"/>
                <a:ea typeface="+mn-ea"/>
                <a:cs typeface="+mn-cs"/>
              </a:rPr>
              <a:t>Company</a:t>
            </a: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57437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Operators</a:t>
            </a:r>
            <a:endParaRPr lang="ru-RU" dirty="0"/>
          </a:p>
        </p:txBody>
      </p:sp>
      <p:sp>
        <p:nvSpPr>
          <p:cNvPr id="3" name="Content Placeholder 2"/>
          <p:cNvSpPr>
            <a:spLocks noGrp="1"/>
          </p:cNvSpPr>
          <p:nvPr>
            <p:ph idx="1"/>
          </p:nvPr>
        </p:nvSpPr>
        <p:spPr>
          <a:xfrm>
            <a:off x="677334" y="1600753"/>
            <a:ext cx="8596668" cy="899779"/>
          </a:xfrm>
        </p:spPr>
        <p:txBody>
          <a:bodyPr>
            <a:normAutofit/>
          </a:bodyPr>
          <a:lstStyle/>
          <a:p>
            <a:pPr marL="0" indent="0">
              <a:buNone/>
            </a:pPr>
            <a:r>
              <a:rPr lang="ru-RU" sz="2100" b="1" dirty="0">
                <a:solidFill>
                  <a:srgbClr val="90C226"/>
                </a:solidFill>
              </a:rPr>
              <a:t>	</a:t>
            </a:r>
            <a:r>
              <a:rPr lang="en-US" sz="2400" dirty="0"/>
              <a:t> Used to perform comparison, logic, arithmetic, and other operations.</a:t>
            </a: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2690720"/>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8" name="Content Placeholder 3">
            <a:extLst>
              <a:ext uri="{FF2B5EF4-FFF2-40B4-BE49-F238E27FC236}">
                <a16:creationId xmlns:a16="http://schemas.microsoft.com/office/drawing/2014/main" id="{962B32D4-93D6-5286-20CE-BC00F824FDA3}"/>
              </a:ext>
            </a:extLst>
          </p:cNvPr>
          <p:cNvSpPr txBox="1">
            <a:spLocks/>
          </p:cNvSpPr>
          <p:nvPr/>
        </p:nvSpPr>
        <p:spPr>
          <a:xfrm>
            <a:off x="1301941" y="3342573"/>
            <a:ext cx="8596668" cy="18909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Arithmetic: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 *, / </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Comparison: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&lt;&gt;, &gt;, &lt;, &gt;=, &lt;= </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Logical: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AND, OR, NOT </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Others: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IN, BETWEEN, LIKE, IS NULL </a:t>
            </a:r>
          </a:p>
          <a:p>
            <a:pPr marL="0" marR="0" lvl="0" indent="0" algn="l" defTabSz="457200" rtl="0" eaLnBrk="1" fontAlgn="base" latinLnBrk="0" hangingPunct="1">
              <a:lnSpc>
                <a:spcPct val="100000"/>
              </a:lnSpc>
              <a:spcBef>
                <a:spcPts val="1000"/>
              </a:spcBef>
              <a:spcAft>
                <a:spcPts val="0"/>
              </a:spcAft>
              <a:buClr>
                <a:srgbClr val="90C226"/>
              </a:buClr>
              <a:buSzPct val="80000"/>
              <a:buFont typeface="Wingdings 3" charset="2"/>
              <a:buNone/>
              <a:tabLst/>
              <a:defRPr/>
            </a:pPr>
            <a:endParaRPr kumimoji="0" lang="ru-RU"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4218990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Literals</a:t>
            </a:r>
            <a:endParaRPr lang="ru-RU" dirty="0"/>
          </a:p>
        </p:txBody>
      </p:sp>
      <p:sp>
        <p:nvSpPr>
          <p:cNvPr id="3" name="Content Placeholder 2"/>
          <p:cNvSpPr>
            <a:spLocks noGrp="1"/>
          </p:cNvSpPr>
          <p:nvPr>
            <p:ph idx="1"/>
          </p:nvPr>
        </p:nvSpPr>
        <p:spPr>
          <a:xfrm>
            <a:off x="677334" y="1600753"/>
            <a:ext cx="8596668" cy="2775304"/>
          </a:xfrm>
        </p:spPr>
        <p:txBody>
          <a:bodyPr>
            <a:normAutofit/>
          </a:bodyPr>
          <a:lstStyle/>
          <a:p>
            <a:pPr marL="0" indent="0">
              <a:buNone/>
            </a:pPr>
            <a:r>
              <a:rPr lang="ru-RU" sz="2100" b="1" dirty="0">
                <a:solidFill>
                  <a:srgbClr val="90C226"/>
                </a:solidFill>
              </a:rPr>
              <a:t>	</a:t>
            </a:r>
            <a:r>
              <a:rPr lang="en-US" sz="2400" dirty="0"/>
              <a:t> Literals are constant values explicitly written in SQL statements. They represent fixed values such as strings, numbers, and dates.</a:t>
            </a: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3336667"/>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6" name="TextBox 5">
            <a:extLst>
              <a:ext uri="{FF2B5EF4-FFF2-40B4-BE49-F238E27FC236}">
                <a16:creationId xmlns:a16="http://schemas.microsoft.com/office/drawing/2014/main" id="{2CF10EC6-3AD2-E68B-70DE-7FC06AAA357E}"/>
              </a:ext>
            </a:extLst>
          </p:cNvPr>
          <p:cNvSpPr txBox="1"/>
          <p:nvPr/>
        </p:nvSpPr>
        <p:spPr>
          <a:xfrm>
            <a:off x="2336292" y="3429000"/>
            <a:ext cx="6099048" cy="369332"/>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80"/>
                </a:solidFill>
                <a:effectLst/>
                <a:uLnTx/>
                <a:uFillTx/>
                <a:latin typeface="Consolas" panose="020B0609020204030204" pitchFamily="49" charset="0"/>
                <a:ea typeface="+mn-ea"/>
                <a:cs typeface="+mn-cs"/>
              </a:rPr>
              <a:t>'Armenia’</a:t>
            </a:r>
            <a:r>
              <a:rPr kumimoji="0" lang="ru-RU" sz="1800" b="1" i="0" u="none" strike="noStrike" kern="1200" cap="none" spc="0" normalizeH="0" baseline="0" noProof="0" dirty="0">
                <a:ln>
                  <a:noFill/>
                </a:ln>
                <a:solidFill>
                  <a:srgbClr val="00008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42</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000080"/>
                </a:solidFill>
                <a:effectLst/>
                <a:uLnTx/>
                <a:uFillTx/>
                <a:latin typeface="Consolas" panose="020B0609020204030204" pitchFamily="49" charset="0"/>
                <a:ea typeface="+mn-ea"/>
                <a:cs typeface="+mn-cs"/>
              </a:rPr>
              <a:t>'2025-01-01'</a:t>
            </a: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1067137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 Characters</a:t>
            </a:r>
            <a:endParaRPr lang="ru-RU" dirty="0"/>
          </a:p>
        </p:txBody>
      </p:sp>
      <p:sp>
        <p:nvSpPr>
          <p:cNvPr id="3" name="Content Placeholder 2"/>
          <p:cNvSpPr>
            <a:spLocks noGrp="1"/>
          </p:cNvSpPr>
          <p:nvPr>
            <p:ph idx="1"/>
          </p:nvPr>
        </p:nvSpPr>
        <p:spPr>
          <a:xfrm>
            <a:off x="677334" y="1600753"/>
            <a:ext cx="8596668" cy="899779"/>
          </a:xfrm>
        </p:spPr>
        <p:txBody>
          <a:bodyPr>
            <a:normAutofit/>
          </a:bodyPr>
          <a:lstStyle/>
          <a:p>
            <a:pPr marL="0" indent="0">
              <a:buNone/>
            </a:pPr>
            <a:r>
              <a:rPr lang="ru-RU" sz="2100" b="1" dirty="0">
                <a:solidFill>
                  <a:srgbClr val="90C226"/>
                </a:solidFill>
              </a:rPr>
              <a:t>	</a:t>
            </a:r>
            <a:r>
              <a:rPr lang="en-US" sz="2400" dirty="0"/>
              <a:t> Special characters are symbols used to structure or control SQL statements.</a:t>
            </a: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2690720"/>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8" name="Content Placeholder 3">
            <a:extLst>
              <a:ext uri="{FF2B5EF4-FFF2-40B4-BE49-F238E27FC236}">
                <a16:creationId xmlns:a16="http://schemas.microsoft.com/office/drawing/2014/main" id="{962B32D4-93D6-5286-20CE-BC00F824FDA3}"/>
              </a:ext>
            </a:extLst>
          </p:cNvPr>
          <p:cNvSpPr txBox="1">
            <a:spLocks/>
          </p:cNvSpPr>
          <p:nvPr/>
        </p:nvSpPr>
        <p:spPr>
          <a:xfrm>
            <a:off x="1301941" y="3342573"/>
            <a:ext cx="8596668" cy="18909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selects all columns in a table</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a:t>
            </a: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marks the end of an SQL statement</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a:t>
            </a: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used for grouping conditions or function calls</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a:t>
            </a:r>
            <a:r>
              <a:rPr kumimoji="0" lang="en-US" altLang="en-US" sz="1800" b="1"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separates items in lists (columns, values, etc.)</a:t>
            </a:r>
          </a:p>
          <a:p>
            <a:pPr marL="0" marR="0" lvl="0" indent="0" algn="l" defTabSz="457200" rtl="0" eaLnBrk="1" fontAlgn="base" latinLnBrk="0" hangingPunct="1">
              <a:lnSpc>
                <a:spcPct val="100000"/>
              </a:lnSpc>
              <a:spcBef>
                <a:spcPts val="1000"/>
              </a:spcBef>
              <a:spcAft>
                <a:spcPts val="0"/>
              </a:spcAft>
              <a:buClr>
                <a:srgbClr val="90C226"/>
              </a:buClr>
              <a:buSzPct val="80000"/>
              <a:buFont typeface="Wingdings 3" charset="2"/>
              <a:buNone/>
              <a:tabLst/>
              <a:defRPr/>
            </a:pPr>
            <a:endParaRPr kumimoji="0" lang="ru-RU"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4048085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Functions</a:t>
            </a:r>
            <a:endParaRPr lang="ru-RU" dirty="0"/>
          </a:p>
        </p:txBody>
      </p:sp>
      <p:sp>
        <p:nvSpPr>
          <p:cNvPr id="3" name="Content Placeholder 2"/>
          <p:cNvSpPr>
            <a:spLocks noGrp="1"/>
          </p:cNvSpPr>
          <p:nvPr>
            <p:ph idx="1"/>
          </p:nvPr>
        </p:nvSpPr>
        <p:spPr>
          <a:xfrm>
            <a:off x="677333" y="1600753"/>
            <a:ext cx="8851227" cy="899779"/>
          </a:xfrm>
        </p:spPr>
        <p:txBody>
          <a:bodyPr>
            <a:normAutofit fontScale="92500" lnSpcReduction="20000"/>
          </a:bodyPr>
          <a:lstStyle/>
          <a:p>
            <a:pPr marL="0" indent="0">
              <a:buNone/>
            </a:pPr>
            <a:r>
              <a:rPr lang="ru-RU" sz="2100" b="1" dirty="0">
                <a:solidFill>
                  <a:srgbClr val="90C226"/>
                </a:solidFill>
              </a:rPr>
              <a:t>	</a:t>
            </a:r>
            <a:r>
              <a:rPr lang="en-US" sz="2400" dirty="0"/>
              <a:t> </a:t>
            </a:r>
            <a:r>
              <a:rPr kumimoji="0" lang="en-US" altLang="en-US" sz="2400" b="0" i="0" u="none" strike="noStrike" cap="none" normalizeH="0" baseline="0" dirty="0">
                <a:ln>
                  <a:noFill/>
                </a:ln>
                <a:solidFill>
                  <a:schemeClr val="tx1"/>
                </a:solidFill>
                <a:effectLst/>
                <a:latin typeface="Arial" panose="020B0604020202020204" pitchFamily="34" charset="0"/>
              </a:rPr>
              <a:t>Functions are built-in SQL tools used to manipulate and process data. They can be used in </a:t>
            </a:r>
            <a:r>
              <a:rPr lang="en-US" altLang="en-US" sz="2400" dirty="0">
                <a:solidFill>
                  <a:schemeClr val="tx1"/>
                </a:solidFill>
                <a:latin typeface="Arial" panose="020B0604020202020204" pitchFamily="34" charset="0"/>
              </a:rPr>
              <a:t>SELECT, WHERE, ORDER BY, and other clauses. </a:t>
            </a:r>
          </a:p>
          <a:p>
            <a:pPr marL="0" indent="0">
              <a:buNone/>
            </a:pP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7334" y="2690720"/>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8" name="Content Placeholder 3">
            <a:extLst>
              <a:ext uri="{FF2B5EF4-FFF2-40B4-BE49-F238E27FC236}">
                <a16:creationId xmlns:a16="http://schemas.microsoft.com/office/drawing/2014/main" id="{962B32D4-93D6-5286-20CE-BC00F824FDA3}"/>
              </a:ext>
            </a:extLst>
          </p:cNvPr>
          <p:cNvSpPr txBox="1">
            <a:spLocks/>
          </p:cNvSpPr>
          <p:nvPr/>
        </p:nvSpPr>
        <p:spPr>
          <a:xfrm>
            <a:off x="1301941" y="3342573"/>
            <a:ext cx="8596668" cy="18909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Aggregate functions: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COUNT(), SUM(), AVG() — summarize data across rows</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String functions:</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UPPER(), LOWER(), CONCAT() — manipulate text values</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Date/time functions: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NOW(), DATEADD(), DATEDIFF() — handle date and time calculations</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endPar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endParaRPr kumimoji="0" lang="ru-RU"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599541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Aliases </a:t>
            </a:r>
            <a:endParaRPr lang="ru-RU" dirty="0"/>
          </a:p>
        </p:txBody>
      </p:sp>
      <p:sp>
        <p:nvSpPr>
          <p:cNvPr id="3" name="Content Placeholder 2"/>
          <p:cNvSpPr>
            <a:spLocks noGrp="1"/>
          </p:cNvSpPr>
          <p:nvPr>
            <p:ph idx="1"/>
          </p:nvPr>
        </p:nvSpPr>
        <p:spPr>
          <a:xfrm>
            <a:off x="677334" y="1310449"/>
            <a:ext cx="8596668" cy="1320800"/>
          </a:xfrm>
        </p:spPr>
        <p:txBody>
          <a:bodyPr>
            <a:normAutofit fontScale="92500" lnSpcReduction="10000"/>
          </a:bodyPr>
          <a:lstStyle/>
          <a:p>
            <a:pPr marL="0" indent="0">
              <a:buNone/>
            </a:pPr>
            <a:r>
              <a:rPr lang="ru-RU" sz="2100" b="1" dirty="0">
                <a:solidFill>
                  <a:srgbClr val="90C226"/>
                </a:solidFill>
              </a:rPr>
              <a:t>	</a:t>
            </a:r>
            <a:r>
              <a:rPr lang="en-US" sz="2400" dirty="0"/>
              <a:t> Aliases in SQL are used to create temporary names for tables or columns in queries. They help improve readability, simplify references to data, and are often used in calculations or when joining tables.</a:t>
            </a:r>
          </a:p>
          <a:p>
            <a:pPr marL="0" indent="0">
              <a:buNone/>
            </a:pPr>
            <a:endParaRPr lang="ru-RU" dirty="0"/>
          </a:p>
        </p:txBody>
      </p:sp>
      <p:sp>
        <p:nvSpPr>
          <p:cNvPr id="4" name="Rectangle 1">
            <a:extLst>
              <a:ext uri="{FF2B5EF4-FFF2-40B4-BE49-F238E27FC236}">
                <a16:creationId xmlns:a16="http://schemas.microsoft.com/office/drawing/2014/main" id="{1E43E412-10C7-BA62-6D94-55FB51E59431}"/>
              </a:ext>
            </a:extLst>
          </p:cNvPr>
          <p:cNvSpPr>
            <a:spLocks noChangeArrowheads="1"/>
          </p:cNvSpPr>
          <p:nvPr/>
        </p:nvSpPr>
        <p:spPr bwMode="auto">
          <a:xfrm>
            <a:off x="672709" y="4226752"/>
            <a:ext cx="15905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Examples:</a:t>
            </a:r>
          </a:p>
        </p:txBody>
      </p:sp>
      <p:sp>
        <p:nvSpPr>
          <p:cNvPr id="8" name="Content Placeholder 3">
            <a:extLst>
              <a:ext uri="{FF2B5EF4-FFF2-40B4-BE49-F238E27FC236}">
                <a16:creationId xmlns:a16="http://schemas.microsoft.com/office/drawing/2014/main" id="{AEBA2151-CA43-8A0E-CB97-4E0E8DB43272}"/>
              </a:ext>
            </a:extLst>
          </p:cNvPr>
          <p:cNvSpPr txBox="1">
            <a:spLocks/>
          </p:cNvSpPr>
          <p:nvPr/>
        </p:nvSpPr>
        <p:spPr>
          <a:xfrm>
            <a:off x="672709" y="2777943"/>
            <a:ext cx="9266938" cy="18909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solidFill>
                  <a:srgbClr val="7AA52C"/>
                </a:solidFill>
                <a:effectLst/>
                <a:uLnTx/>
                <a:uFillTx/>
                <a:latin typeface="Trebuchet MS" panose="020B0603020202020204"/>
                <a:ea typeface="+mn-ea"/>
                <a:cs typeface="+mn-cs"/>
              </a:rPr>
              <a:t>Column Aliases: </a:t>
            </a:r>
            <a:r>
              <a:rPr kumimoji="0" lang="en-US" sz="20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Used to assign a new name to a column or a computed value.</a:t>
            </a:r>
            <a:endParaRPr kumimoji="0" lang="hy-AM" sz="20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sz="2000" b="0" i="0" u="none" strike="noStrike" kern="1200" cap="none" spc="0" normalizeH="0" baseline="0" noProof="0" dirty="0">
                <a:ln>
                  <a:noFill/>
                </a:ln>
                <a:solidFill>
                  <a:srgbClr val="7AA52C"/>
                </a:solidFill>
                <a:effectLst/>
                <a:uLnTx/>
                <a:uFillTx/>
                <a:latin typeface="Trebuchet MS" panose="020B0603020202020204"/>
                <a:ea typeface="+mn-ea"/>
                <a:cs typeface="+mn-cs"/>
              </a:rPr>
              <a:t>Table Aliases:</a:t>
            </a:r>
            <a:r>
              <a:rPr kumimoji="0" lang="en-US" sz="20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 Used for brevity to simplify references to tables, especially in complex queries involving multiple tables.</a:t>
            </a:r>
            <a:endParaRPr kumimoji="0" lang="ru-RU" sz="20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p:txBody>
      </p:sp>
      <p:sp>
        <p:nvSpPr>
          <p:cNvPr id="7" name="TextBox 6">
            <a:extLst>
              <a:ext uri="{FF2B5EF4-FFF2-40B4-BE49-F238E27FC236}">
                <a16:creationId xmlns:a16="http://schemas.microsoft.com/office/drawing/2014/main" id="{34E9E448-566C-7672-D51A-C4259500CAB1}"/>
              </a:ext>
            </a:extLst>
          </p:cNvPr>
          <p:cNvSpPr txBox="1"/>
          <p:nvPr/>
        </p:nvSpPr>
        <p:spPr>
          <a:xfrm>
            <a:off x="2351315" y="4328624"/>
            <a:ext cx="6103916" cy="369332"/>
          </a:xfrm>
          <a:prstGeom prst="rect">
            <a:avLst/>
          </a:prstGeom>
          <a:solidFill>
            <a:schemeClr val="tx1">
              <a:lumMod val="95000"/>
            </a:schemeClr>
          </a:solidFill>
        </p:spPr>
        <p:txBody>
          <a:bodyPr wrap="square">
            <a:spAutoFit/>
          </a:bodyPr>
          <a:lstStyle/>
          <a:p>
            <a:r>
              <a:rPr lang="en-US" sz="1800" dirty="0">
                <a:solidFill>
                  <a:srgbClr val="006464"/>
                </a:solidFill>
                <a:effectLst/>
                <a:latin typeface="Consolas" panose="020B0609020204030204" pitchFamily="49" charset="0"/>
              </a:rPr>
              <a:t>City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006464"/>
                </a:solidFill>
                <a:effectLst/>
                <a:latin typeface="Consolas" panose="020B0609020204030204" pitchFamily="49" charset="0"/>
              </a:rPr>
              <a:t>C</a:t>
            </a:r>
            <a:r>
              <a:rPr lang="en-US" sz="1800" dirty="0">
                <a:solidFill>
                  <a:srgbClr val="000000"/>
                </a:solidFill>
                <a:effectLst/>
                <a:latin typeface="Consolas" panose="020B0609020204030204" pitchFamily="49" charset="0"/>
              </a:rPr>
              <a:t>, </a:t>
            </a:r>
            <a:r>
              <a:rPr lang="en-US" sz="1800" dirty="0">
                <a:solidFill>
                  <a:srgbClr val="8E00C6"/>
                </a:solidFill>
                <a:effectLst/>
                <a:latin typeface="Consolas" panose="020B0609020204030204" pitchFamily="49" charset="0"/>
              </a:rPr>
              <a:t>employee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EMP</a:t>
            </a:r>
            <a:endParaRPr lang="en-US" sz="180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584928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SELECT</a:t>
            </a:r>
            <a:endParaRPr lang="ru-RU" dirty="0"/>
          </a:p>
        </p:txBody>
      </p:sp>
      <p:sp>
        <p:nvSpPr>
          <p:cNvPr id="6" name="Rectangle 5"/>
          <p:cNvSpPr/>
          <p:nvPr/>
        </p:nvSpPr>
        <p:spPr>
          <a:xfrm>
            <a:off x="1528034" y="3156346"/>
            <a:ext cx="4110421" cy="369332"/>
          </a:xfrm>
          <a:prstGeom prst="rect">
            <a:avLst/>
          </a:prstGeom>
          <a:solidFill>
            <a:schemeClr val="tx1"/>
          </a:solid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'I am your first Query!'</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7" name="Rectangle 6"/>
          <p:cNvSpPr/>
          <p:nvPr/>
        </p:nvSpPr>
        <p:spPr>
          <a:xfrm>
            <a:off x="1518675" y="4399596"/>
            <a:ext cx="1451038" cy="369332"/>
          </a:xfrm>
          <a:prstGeom prst="rect">
            <a:avLst/>
          </a:prstGeom>
          <a:solidFill>
            <a:schemeClr val="tx1"/>
          </a:solid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5</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000FF"/>
                </a:solidFill>
                <a:effectLst/>
                <a:uLnTx/>
                <a:uFillTx/>
                <a:latin typeface="Consolas" panose="020B0609020204030204" pitchFamily="49" charset="0"/>
                <a:ea typeface="+mn-ea"/>
                <a:cs typeface="+mn-cs"/>
              </a:rPr>
              <a:t>8</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8" name="Rectangle 7"/>
          <p:cNvSpPr/>
          <p:nvPr/>
        </p:nvSpPr>
        <p:spPr>
          <a:xfrm>
            <a:off x="677334" y="1328975"/>
            <a:ext cx="9922242" cy="1477328"/>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is a SQL command used to retrieve data from one or more tables in a database. It allows users to specify which columns of data they want to retrieve, as well as to filter, sort, and group the results based on specific criteria. The SELECT statement is one of the most commonly used SQL commands and is fundamental for querying and analyzing data stored in a relational database.</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9" name="Rectangle 8"/>
          <p:cNvSpPr/>
          <p:nvPr/>
        </p:nvSpPr>
        <p:spPr>
          <a:xfrm>
            <a:off x="593422" y="3777971"/>
            <a:ext cx="6096000" cy="369332"/>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I am your first Query!</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593422" y="3156346"/>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1" name="Rectangle 10"/>
          <p:cNvSpPr/>
          <p:nvPr/>
        </p:nvSpPr>
        <p:spPr>
          <a:xfrm>
            <a:off x="593422" y="4399596"/>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2" name="Rectangle 11"/>
          <p:cNvSpPr/>
          <p:nvPr/>
        </p:nvSpPr>
        <p:spPr>
          <a:xfrm>
            <a:off x="593422" y="5021221"/>
            <a:ext cx="6096000" cy="369332"/>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13</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24777304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a:t>
            </a:r>
            <a:endParaRPr lang="ru-RU" dirty="0"/>
          </a:p>
        </p:txBody>
      </p:sp>
      <p:sp>
        <p:nvSpPr>
          <p:cNvPr id="8" name="Rectangle 7"/>
          <p:cNvSpPr/>
          <p:nvPr/>
        </p:nvSpPr>
        <p:spPr>
          <a:xfrm>
            <a:off x="677334" y="1328975"/>
            <a:ext cx="9922242" cy="120032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is a SQL clause used to specify the table or tables from which to retrieve data in a SELECT query. It indicates the source of the data being queried and can also be used to join multiple tables together. The FROM clause is essential in defining the dataset from which other SQL operations, like filtering, sorting, or grouping, will be applied.</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9" name="Rectangle 8"/>
          <p:cNvSpPr/>
          <p:nvPr/>
        </p:nvSpPr>
        <p:spPr>
          <a:xfrm>
            <a:off x="593421" y="3890309"/>
            <a:ext cx="6861737" cy="369332"/>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All full records of Customer table include all columns </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593422" y="3156346"/>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3" name="Rectangle 2"/>
          <p:cNvSpPr/>
          <p:nvPr/>
        </p:nvSpPr>
        <p:spPr>
          <a:xfrm>
            <a:off x="1518675" y="3202512"/>
            <a:ext cx="2018523" cy="646331"/>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Customer</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1224552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a:t>
            </a:r>
            <a:endParaRPr lang="ru-RU" dirty="0"/>
          </a:p>
        </p:txBody>
      </p:sp>
      <p:sp>
        <p:nvSpPr>
          <p:cNvPr id="9" name="Rectangle 8"/>
          <p:cNvSpPr/>
          <p:nvPr/>
        </p:nvSpPr>
        <p:spPr>
          <a:xfrm>
            <a:off x="677334" y="3919617"/>
            <a:ext cx="6096000" cy="923330"/>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b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b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677334" y="2866379"/>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4" name="Rectangle 3"/>
          <p:cNvSpPr/>
          <p:nvPr/>
        </p:nvSpPr>
        <p:spPr>
          <a:xfrm>
            <a:off x="677334" y="1284981"/>
            <a:ext cx="10575384"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is an SQL keyword used to </a:t>
            </a: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filter rows</a:t>
            </a: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 that satisfy a specific condition. It allows you to select only those records that match the given criteria.</a:t>
            </a:r>
          </a:p>
        </p:txBody>
      </p:sp>
      <p:sp>
        <p:nvSpPr>
          <p:cNvPr id="6" name="Rectangle 5"/>
          <p:cNvSpPr/>
          <p:nvPr/>
        </p:nvSpPr>
        <p:spPr>
          <a:xfrm>
            <a:off x="1602586" y="2912545"/>
            <a:ext cx="4318819" cy="923330"/>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Customer</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WHERE</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006464"/>
                </a:solidFill>
                <a:effectLst/>
                <a:uLnTx/>
                <a:uFillTx/>
                <a:latin typeface="Consolas" panose="020B0609020204030204" pitchFamily="49" charset="0"/>
                <a:ea typeface="+mn-ea"/>
                <a:cs typeface="+mn-cs"/>
              </a:rPr>
              <a:t>Company</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08000"/>
                </a:solidFill>
                <a:effectLst/>
                <a:uLnTx/>
                <a:uFillTx/>
                <a:latin typeface="Consolas" panose="020B0609020204030204" pitchFamily="49" charset="0"/>
                <a:ea typeface="+mn-ea"/>
                <a:cs typeface="+mn-cs"/>
              </a:rPr>
              <a:t>'Apple Inc.'</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8" name="TextBox 7">
            <a:extLst>
              <a:ext uri="{FF2B5EF4-FFF2-40B4-BE49-F238E27FC236}">
                <a16:creationId xmlns:a16="http://schemas.microsoft.com/office/drawing/2014/main" id="{F409628D-461E-4793-7997-B368B26A5630}"/>
              </a:ext>
            </a:extLst>
          </p:cNvPr>
          <p:cNvSpPr txBox="1"/>
          <p:nvPr/>
        </p:nvSpPr>
        <p:spPr>
          <a:xfrm>
            <a:off x="677334" y="4372691"/>
            <a:ext cx="11255586" cy="55399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CustomerId|FirstName|LastName|Company</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   |Address        |City     |</a:t>
            </a:r>
            <a:r>
              <a:rPr kumimoji="0" lang="en-US" sz="10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State|Country|PostalCode|Phone</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            |Fax              |Email           |</a:t>
            </a:r>
            <a:r>
              <a:rPr kumimoji="0" lang="en-US" sz="10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SupportRepId</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        19|Tim      |</a:t>
            </a:r>
            <a:r>
              <a:rPr kumimoji="0" lang="en-US" sz="10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Goyer</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   |</a:t>
            </a:r>
            <a:r>
              <a:rPr kumimoji="0" lang="en-US" sz="1000" b="1" i="0" u="none" strike="noStrike" kern="1200" cap="none" spc="0" normalizeH="0" baseline="0" noProof="0" dirty="0">
                <a:ln>
                  <a:noFill/>
                </a:ln>
                <a:solidFill>
                  <a:prstClr val="white"/>
                </a:solidFill>
                <a:effectLst/>
                <a:highlight>
                  <a:srgbClr val="008080"/>
                </a:highlight>
                <a:uLnTx/>
                <a:uFillTx/>
                <a:latin typeface="Consolas" panose="020B0609020204030204" pitchFamily="49" charset="0"/>
                <a:ea typeface="+mn-ea"/>
                <a:cs typeface="Arial" panose="020B0604020202020204" pitchFamily="34" charset="0"/>
              </a:rPr>
              <a:t>Apple Inc.</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|1 Infinite </a:t>
            </a:r>
            <a:r>
              <a:rPr kumimoji="0" lang="en-US" sz="10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Loop|Cupertino|CA</a:t>
            </a:r>
            <a:r>
              <a:rPr kumimoji="0" lang="en-US" sz="10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   |USA    |95014     |+1 (408) 996-1010|+1 (408) 996-1011|tgoyer@apple.com|           3|</a:t>
            </a:r>
          </a:p>
        </p:txBody>
      </p:sp>
    </p:spTree>
    <p:extLst>
      <p:ext uri="{BB962C8B-B14F-4D97-AF65-F5344CB8AC3E}">
        <p14:creationId xmlns:p14="http://schemas.microsoft.com/office/powerpoint/2010/main" val="169081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COUNT</a:t>
            </a:r>
            <a:endParaRPr lang="ru-RU" dirty="0"/>
          </a:p>
        </p:txBody>
      </p:sp>
      <p:sp>
        <p:nvSpPr>
          <p:cNvPr id="9" name="Rectangle 8"/>
          <p:cNvSpPr/>
          <p:nvPr/>
        </p:nvSpPr>
        <p:spPr>
          <a:xfrm>
            <a:off x="677334" y="4433428"/>
            <a:ext cx="6096000" cy="646331"/>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59</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677334" y="3744175"/>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1" name="Rectangle 10"/>
          <p:cNvSpPr/>
          <p:nvPr/>
        </p:nvSpPr>
        <p:spPr>
          <a:xfrm>
            <a:off x="677334" y="4987425"/>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2" name="Rectangle 11"/>
          <p:cNvSpPr/>
          <p:nvPr/>
        </p:nvSpPr>
        <p:spPr>
          <a:xfrm>
            <a:off x="677334" y="5726087"/>
            <a:ext cx="6096000" cy="369332"/>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 </a:t>
            </a:r>
            <a:r>
              <a:rPr kumimoji="0" lang="en-US" sz="1800" b="0" i="0" u="none" strike="noStrike" kern="1200" cap="none" spc="0" normalizeH="0" baseline="0" noProof="0" dirty="0">
                <a:ln>
                  <a:noFill/>
                </a:ln>
                <a:solidFill>
                  <a:prstClr val="white"/>
                </a:solidFill>
                <a:effectLst/>
                <a:uLnTx/>
                <a:uFillTx/>
                <a:latin typeface="Consolas" panose="020B0609020204030204" pitchFamily="49" charset="0"/>
                <a:ea typeface="+mn-ea"/>
                <a:cs typeface="+mn-cs"/>
              </a:rPr>
              <a:t>10</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4" name="Rectangle 3"/>
          <p:cNvSpPr/>
          <p:nvPr/>
        </p:nvSpPr>
        <p:spPr>
          <a:xfrm>
            <a:off x="677334" y="1284981"/>
            <a:ext cx="10575384" cy="1200329"/>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The </a:t>
            </a: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COUNT</a:t>
            </a: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 operator in SQL is a function used to count the number of rows that match a specified condition in a query. It can be applied to a specific column or to all rows in the table. The </a:t>
            </a: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COUNT</a:t>
            </a: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 function is often used with the </a:t>
            </a: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SELECT</a:t>
            </a: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 statement to get the total number of records, rows, or entries.</a:t>
            </a:r>
          </a:p>
        </p:txBody>
      </p:sp>
      <p:sp>
        <p:nvSpPr>
          <p:cNvPr id="13" name="Content Placeholder 3"/>
          <p:cNvSpPr>
            <a:spLocks noGrp="1"/>
          </p:cNvSpPr>
          <p:nvPr>
            <p:ph idx="1"/>
          </p:nvPr>
        </p:nvSpPr>
        <p:spPr>
          <a:xfrm>
            <a:off x="742648" y="2605782"/>
            <a:ext cx="8596668" cy="839934"/>
          </a:xfrm>
        </p:spPr>
        <p:txBody>
          <a:bodyPr>
            <a:normAutofit/>
          </a:bodyPr>
          <a:lstStyle/>
          <a:p>
            <a:pPr fontAlgn="base"/>
            <a:r>
              <a:rPr lang="en-US" dirty="0"/>
              <a:t>COUNT(*): Counts all rows, including those with NULL values.</a:t>
            </a:r>
          </a:p>
          <a:p>
            <a:pPr fontAlgn="base"/>
            <a:r>
              <a:rPr lang="en-US" dirty="0"/>
              <a:t>COUNT(</a:t>
            </a:r>
            <a:r>
              <a:rPr lang="en-US" dirty="0" err="1"/>
              <a:t>column_name</a:t>
            </a:r>
            <a:r>
              <a:rPr lang="en-US" dirty="0"/>
              <a:t>): Counts only non-NULL values in a specific column.</a:t>
            </a:r>
          </a:p>
          <a:p>
            <a:pPr fontAlgn="base"/>
            <a:endParaRPr lang="ru-RU" dirty="0"/>
          </a:p>
        </p:txBody>
      </p:sp>
      <p:sp>
        <p:nvSpPr>
          <p:cNvPr id="6" name="Rectangle 5"/>
          <p:cNvSpPr/>
          <p:nvPr/>
        </p:nvSpPr>
        <p:spPr>
          <a:xfrm>
            <a:off x="1602587" y="3790341"/>
            <a:ext cx="2223796" cy="646331"/>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000080"/>
                </a:solidFill>
                <a:effectLst/>
                <a:uLnTx/>
                <a:uFillTx/>
                <a:latin typeface="Consolas" panose="020B0609020204030204" pitchFamily="49" charset="0"/>
                <a:ea typeface="+mn-ea"/>
                <a:cs typeface="+mn-cs"/>
              </a:rPr>
              <a: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Customer</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
        <p:nvSpPr>
          <p:cNvPr id="14" name="Rectangle 13"/>
          <p:cNvSpPr/>
          <p:nvPr/>
        </p:nvSpPr>
        <p:spPr>
          <a:xfrm>
            <a:off x="1602587" y="5033591"/>
            <a:ext cx="2845005" cy="646331"/>
          </a:xfrm>
          <a:prstGeom prst="rect">
            <a:avLst/>
          </a:prstGeom>
          <a:solidFill>
            <a:schemeClr val="tx1"/>
          </a:solid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SELECT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1" i="0" u="none" strike="noStrike" kern="1200" cap="none" spc="0" normalizeH="0" baseline="0" noProof="0" dirty="0">
                <a:ln>
                  <a:noFill/>
                </a:ln>
                <a:solidFill>
                  <a:srgbClr val="000080"/>
                </a:solidFill>
                <a:effectLst/>
                <a:uLnTx/>
                <a:uFillTx/>
                <a:latin typeface="Consolas" panose="020B0609020204030204" pitchFamily="49" charset="0"/>
                <a:ea typeface="+mn-ea"/>
                <a:cs typeface="+mn-cs"/>
              </a:rPr>
              <a:t>COUNT</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r>
              <a:rPr kumimoji="0" lang="en-US" sz="1800" b="0" i="0" u="none" strike="noStrike" kern="1200" cap="none" spc="0" normalizeH="0" baseline="0" noProof="0" dirty="0">
                <a:ln>
                  <a:noFill/>
                </a:ln>
                <a:solidFill>
                  <a:srgbClr val="006464"/>
                </a:solidFill>
                <a:effectLst/>
                <a:uLnTx/>
                <a:uFillTx/>
                <a:latin typeface="Consolas" panose="020B0609020204030204" pitchFamily="49" charset="0"/>
                <a:ea typeface="+mn-ea"/>
                <a:cs typeface="+mn-cs"/>
              </a:rPr>
              <a:t>Company</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800000"/>
                </a:solidFill>
                <a:effectLst/>
                <a:uLnTx/>
                <a:uFillTx/>
                <a:latin typeface="Consolas" panose="020B0609020204030204" pitchFamily="49" charset="0"/>
                <a:ea typeface="+mn-ea"/>
                <a:cs typeface="+mn-cs"/>
              </a:rPr>
              <a:t>FROM</a:t>
            </a:r>
            <a:r>
              <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rPr>
              <a:t> </a:t>
            </a:r>
            <a:r>
              <a:rPr kumimoji="0" lang="en-US" sz="1800" b="0" i="0" u="none" strike="noStrike" kern="1200" cap="none" spc="0" normalizeH="0" baseline="0" noProof="0" dirty="0">
                <a:ln>
                  <a:noFill/>
                </a:ln>
                <a:solidFill>
                  <a:srgbClr val="8E00C6"/>
                </a:solidFill>
                <a:effectLst/>
                <a:uLnTx/>
                <a:uFillTx/>
                <a:latin typeface="Consolas" panose="020B0609020204030204" pitchFamily="49" charset="0"/>
                <a:ea typeface="+mn-ea"/>
                <a:cs typeface="+mn-cs"/>
              </a:rPr>
              <a:t>Customer</a:t>
            </a:r>
            <a:r>
              <a:rPr kumimoji="0" lang="en-US" sz="1800" b="0" i="0" u="none" strike="noStrike" kern="1200" cap="none" spc="0" normalizeH="0" baseline="0" noProof="0" dirty="0">
                <a:ln>
                  <a:noFill/>
                </a:ln>
                <a:solidFill>
                  <a:srgbClr val="FF0000"/>
                </a:solidFill>
                <a:effectLst/>
                <a:uLnTx/>
                <a:uFillTx/>
                <a:latin typeface="Consolas" panose="020B0609020204030204" pitchFamily="49" charset="0"/>
                <a:ea typeface="+mn-ea"/>
                <a:cs typeface="+mn-cs"/>
              </a:rPr>
              <a:t>;</a:t>
            </a:r>
            <a:endParaRPr kumimoji="0" lang="en-US" sz="1800" b="0" i="0" u="none" strike="noStrike" kern="1200" cap="none" spc="0" normalizeH="0" baseline="0" noProof="0" dirty="0">
              <a:ln>
                <a:noFill/>
              </a:ln>
              <a:solidFill>
                <a:srgbClr val="000000"/>
              </a:solidFill>
              <a:effectLst/>
              <a:uLnTx/>
              <a:uFillTx/>
              <a:latin typeface="Consolas" panose="020B0609020204030204" pitchFamily="49" charset="0"/>
              <a:ea typeface="+mn-ea"/>
              <a:cs typeface="+mn-cs"/>
            </a:endParaRPr>
          </a:p>
        </p:txBody>
      </p:sp>
    </p:spTree>
    <p:extLst>
      <p:ext uri="{BB962C8B-B14F-4D97-AF65-F5344CB8AC3E}">
        <p14:creationId xmlns:p14="http://schemas.microsoft.com/office/powerpoint/2010/main" val="1763641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GROUP BY</a:t>
            </a:r>
            <a:endParaRPr lang="ru-RU" dirty="0"/>
          </a:p>
        </p:txBody>
      </p:sp>
      <p:sp>
        <p:nvSpPr>
          <p:cNvPr id="9" name="Rectangle 8"/>
          <p:cNvSpPr/>
          <p:nvPr/>
        </p:nvSpPr>
        <p:spPr>
          <a:xfrm>
            <a:off x="677334" y="3834158"/>
            <a:ext cx="6096000" cy="646331"/>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677334" y="2651645"/>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4" name="Rectangle 3"/>
          <p:cNvSpPr/>
          <p:nvPr/>
        </p:nvSpPr>
        <p:spPr>
          <a:xfrm>
            <a:off x="677334" y="1284981"/>
            <a:ext cx="10575384"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groups rows that have the same values in specified columns, often used with aggregate functions like COUNT(), SUM(), AVG(), etc., to perform calculations on each group.</a:t>
            </a:r>
          </a:p>
        </p:txBody>
      </p:sp>
      <p:sp>
        <p:nvSpPr>
          <p:cNvPr id="6" name="Rectangle 5"/>
          <p:cNvSpPr/>
          <p:nvPr/>
        </p:nvSpPr>
        <p:spPr>
          <a:xfrm>
            <a:off x="1602586" y="2697811"/>
            <a:ext cx="5855117" cy="1200329"/>
          </a:xfrm>
          <a:prstGeom prst="rect">
            <a:avLst/>
          </a:prstGeom>
          <a:solidFill>
            <a:schemeClr val="tx1"/>
          </a:solidFill>
        </p:spPr>
        <p:txBody>
          <a:bodyPr wrap="square">
            <a:spAutoFit/>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br>
              <a:rPr lang="en-US" sz="1800" dirty="0">
                <a:solidFill>
                  <a:srgbClr val="000000"/>
                </a:solidFill>
                <a:effectLst/>
                <a:latin typeface="Consolas" panose="020B0609020204030204" pitchFamily="49" charset="0"/>
              </a:rPr>
            </a:b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num_employees</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8E00C6"/>
                </a:solidFill>
                <a:effectLst/>
                <a:latin typeface="Consolas" panose="020B0609020204030204" pitchFamily="49" charset="0"/>
              </a:rPr>
              <a:t>employee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endParaRPr lang="en-US" sz="1800" dirty="0">
              <a:solidFill>
                <a:srgbClr val="000000"/>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04166D3C-EF89-0B9B-7A95-BAB3FC5A506F}"/>
              </a:ext>
            </a:extLst>
          </p:cNvPr>
          <p:cNvSpPr txBox="1"/>
          <p:nvPr/>
        </p:nvSpPr>
        <p:spPr>
          <a:xfrm>
            <a:off x="677334" y="4233675"/>
            <a:ext cx="7338510" cy="147732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City      |</a:t>
            </a:r>
            <a:r>
              <a:rPr kumimoji="0" lang="en-US" sz="18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num_employees</a:t>
            </a: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Calgary   |            5|</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Edmonton  |            1|</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Lethbridge|            2|</a:t>
            </a:r>
          </a:p>
        </p:txBody>
      </p:sp>
    </p:spTree>
    <p:extLst>
      <p:ext uri="{BB962C8B-B14F-4D97-AF65-F5344CB8AC3E}">
        <p14:creationId xmlns:p14="http://schemas.microsoft.com/office/powerpoint/2010/main" val="2667134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HAVING</a:t>
            </a:r>
            <a:endParaRPr lang="ru-RU" dirty="0"/>
          </a:p>
        </p:txBody>
      </p:sp>
      <p:sp>
        <p:nvSpPr>
          <p:cNvPr id="9" name="Rectangle 8"/>
          <p:cNvSpPr/>
          <p:nvPr/>
        </p:nvSpPr>
        <p:spPr>
          <a:xfrm>
            <a:off x="677334" y="4220185"/>
            <a:ext cx="6096000" cy="646331"/>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677334" y="2651645"/>
            <a:ext cx="925253"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4" name="Rectangle 3"/>
          <p:cNvSpPr/>
          <p:nvPr/>
        </p:nvSpPr>
        <p:spPr>
          <a:xfrm>
            <a:off x="677334" y="1284981"/>
            <a:ext cx="10575384"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filters the results after grouping, allowing you to apply conditions to aggregated data. It is similar to WHERE, but used for filtering results obtained from GROUP BY.</a:t>
            </a:r>
          </a:p>
        </p:txBody>
      </p:sp>
      <p:sp>
        <p:nvSpPr>
          <p:cNvPr id="6" name="Rectangle 5"/>
          <p:cNvSpPr/>
          <p:nvPr/>
        </p:nvSpPr>
        <p:spPr>
          <a:xfrm>
            <a:off x="1602586" y="2697811"/>
            <a:ext cx="5855117" cy="1477328"/>
          </a:xfrm>
          <a:prstGeom prst="rect">
            <a:avLst/>
          </a:prstGeom>
          <a:solidFill>
            <a:schemeClr val="tx1"/>
          </a:solidFill>
        </p:spPr>
        <p:txBody>
          <a:bodyPr wrap="square">
            <a:spAutoFit/>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br>
              <a:rPr lang="en-US" sz="1800" dirty="0">
                <a:solidFill>
                  <a:srgbClr val="000000"/>
                </a:solidFill>
                <a:effectLst/>
                <a:latin typeface="Consolas" panose="020B0609020204030204" pitchFamily="49" charset="0"/>
              </a:rPr>
            </a:b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num_employees</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8E00C6"/>
                </a:solidFill>
                <a:effectLst/>
                <a:latin typeface="Consolas" panose="020B0609020204030204" pitchFamily="49" charset="0"/>
              </a:rPr>
              <a:t>employee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HAVING</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&gt; </a:t>
            </a:r>
            <a:r>
              <a:rPr lang="en-US" sz="1800" dirty="0">
                <a:solidFill>
                  <a:srgbClr val="0000FF"/>
                </a:solidFill>
                <a:effectLst/>
                <a:latin typeface="Consolas" panose="020B0609020204030204" pitchFamily="49" charset="0"/>
              </a:rPr>
              <a:t>1</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04166D3C-EF89-0B9B-7A95-BAB3FC5A506F}"/>
              </a:ext>
            </a:extLst>
          </p:cNvPr>
          <p:cNvSpPr txBox="1"/>
          <p:nvPr/>
        </p:nvSpPr>
        <p:spPr>
          <a:xfrm>
            <a:off x="677334" y="4619702"/>
            <a:ext cx="7338510"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City      |</a:t>
            </a:r>
            <a:r>
              <a:rPr kumimoji="0" lang="en-US" sz="18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num_employees</a:t>
            </a: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Calgary   |            5|</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Lethbridge|            2|</a:t>
            </a:r>
          </a:p>
        </p:txBody>
      </p:sp>
    </p:spTree>
    <p:extLst>
      <p:ext uri="{BB962C8B-B14F-4D97-AF65-F5344CB8AC3E}">
        <p14:creationId xmlns:p14="http://schemas.microsoft.com/office/powerpoint/2010/main" val="30991350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BY</a:t>
            </a:r>
            <a:endParaRPr lang="ru-RU" dirty="0"/>
          </a:p>
        </p:txBody>
      </p:sp>
      <p:sp>
        <p:nvSpPr>
          <p:cNvPr id="9" name="Rectangle 8"/>
          <p:cNvSpPr/>
          <p:nvPr/>
        </p:nvSpPr>
        <p:spPr>
          <a:xfrm>
            <a:off x="677334" y="4819576"/>
            <a:ext cx="6096000" cy="587574"/>
          </a:xfrm>
          <a:prstGeom prst="rect">
            <a:avLst/>
          </a:prstGeom>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Result:</a:t>
            </a: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ru-RU"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10" name="Rectangle 9"/>
          <p:cNvSpPr/>
          <p:nvPr/>
        </p:nvSpPr>
        <p:spPr>
          <a:xfrm>
            <a:off x="677334" y="2953438"/>
            <a:ext cx="925253" cy="335756"/>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Trebuchet MS" panose="020B0603020202020204"/>
                <a:ea typeface="+mn-ea"/>
                <a:cs typeface="+mn-cs"/>
              </a:rPr>
              <a:t>Query:</a:t>
            </a:r>
            <a:endParaRPr kumimoji="0" lang="ru-RU" sz="1800" b="1"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4" name="Rectangle 3"/>
          <p:cNvSpPr/>
          <p:nvPr/>
        </p:nvSpPr>
        <p:spPr>
          <a:xfrm>
            <a:off x="677334" y="1284981"/>
            <a:ext cx="10575384"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rPr>
              <a:t>It </a:t>
            </a:r>
            <a:r>
              <a:rPr lang="en-US" dirty="0"/>
              <a:t>is a SQL keyword used to sort the results of a query. It allows you to sort rows by one or more columns, either in ascending or descending order.</a:t>
            </a:r>
            <a:endParaRPr kumimoji="0" lang="en-US" sz="1800" b="0" i="0" u="none" strike="noStrike" kern="1200" cap="none" spc="0" normalizeH="0" baseline="0" noProof="0" dirty="0">
              <a:ln>
                <a:noFill/>
              </a:ln>
              <a:solidFill>
                <a:prstClr val="white"/>
              </a:solidFill>
              <a:effectLst/>
              <a:uLnTx/>
              <a:uFillTx/>
              <a:latin typeface="Trebuchet MS" panose="020B0603020202020204"/>
              <a:ea typeface="+mn-ea"/>
              <a:cs typeface="+mn-cs"/>
            </a:endParaRPr>
          </a:p>
        </p:txBody>
      </p:sp>
      <p:sp>
        <p:nvSpPr>
          <p:cNvPr id="6" name="Rectangle 5"/>
          <p:cNvSpPr/>
          <p:nvPr/>
        </p:nvSpPr>
        <p:spPr>
          <a:xfrm>
            <a:off x="1602586" y="3037376"/>
            <a:ext cx="5855117" cy="1754326"/>
          </a:xfrm>
          <a:prstGeom prst="rect">
            <a:avLst/>
          </a:prstGeom>
          <a:solidFill>
            <a:schemeClr val="tx1"/>
          </a:solidFill>
        </p:spPr>
        <p:txBody>
          <a:bodyPr wrap="square">
            <a:spAutoFit/>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br>
              <a:rPr lang="en-US" sz="1800" dirty="0">
                <a:solidFill>
                  <a:srgbClr val="000000"/>
                </a:solidFill>
                <a:effectLst/>
                <a:latin typeface="Consolas" panose="020B0609020204030204" pitchFamily="49" charset="0"/>
              </a:rPr>
            </a:b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num_employees</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8E00C6"/>
                </a:solidFill>
                <a:effectLst/>
                <a:latin typeface="Consolas" panose="020B0609020204030204" pitchFamily="49" charset="0"/>
              </a:rPr>
              <a:t>employee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GROUP</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HAVING</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&gt; </a:t>
            </a:r>
            <a:r>
              <a:rPr lang="en-US" sz="1800" dirty="0">
                <a:solidFill>
                  <a:srgbClr val="0000FF"/>
                </a:solidFill>
                <a:effectLst/>
                <a:latin typeface="Consolas" panose="020B0609020204030204" pitchFamily="49" charset="0"/>
              </a:rPr>
              <a:t>1</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a:solidFill>
                  <a:srgbClr val="006464"/>
                </a:solidFill>
                <a:effectLst/>
                <a:latin typeface="Consolas" panose="020B0609020204030204" pitchFamily="49" charset="0"/>
              </a:rPr>
              <a:t>City</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DESC</a:t>
            </a:r>
            <a:endParaRPr lang="en-US" sz="1800" dirty="0">
              <a:solidFill>
                <a:srgbClr val="000000"/>
              </a:solidFill>
              <a:effectLst/>
              <a:latin typeface="Consolas" panose="020B0609020204030204" pitchFamily="49" charset="0"/>
            </a:endParaRPr>
          </a:p>
        </p:txBody>
      </p:sp>
      <p:sp>
        <p:nvSpPr>
          <p:cNvPr id="18" name="TextBox 17">
            <a:extLst>
              <a:ext uri="{FF2B5EF4-FFF2-40B4-BE49-F238E27FC236}">
                <a16:creationId xmlns:a16="http://schemas.microsoft.com/office/drawing/2014/main" id="{04166D3C-EF89-0B9B-7A95-BAB3FC5A506F}"/>
              </a:ext>
            </a:extLst>
          </p:cNvPr>
          <p:cNvSpPr txBox="1"/>
          <p:nvPr/>
        </p:nvSpPr>
        <p:spPr>
          <a:xfrm>
            <a:off x="677334" y="5244275"/>
            <a:ext cx="7338510" cy="120032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City      |</a:t>
            </a:r>
            <a:r>
              <a:rPr kumimoji="0" lang="en-US" sz="1800" b="1" i="0" u="none" strike="noStrike" kern="1200" cap="none" spc="0" normalizeH="0" baseline="0" noProof="0" dirty="0" err="1">
                <a:ln>
                  <a:noFill/>
                </a:ln>
                <a:solidFill>
                  <a:prstClr val="white"/>
                </a:solidFill>
                <a:effectLst/>
                <a:uLnTx/>
                <a:uFillTx/>
                <a:latin typeface="Consolas" panose="020B0609020204030204" pitchFamily="49" charset="0"/>
                <a:ea typeface="+mn-ea"/>
                <a:cs typeface="Arial" panose="020B0604020202020204" pitchFamily="34" charset="0"/>
              </a:rPr>
              <a:t>num_employees</a:t>
            </a: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Lethbridge|            2|</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onsolas" panose="020B0609020204030204" pitchFamily="49" charset="0"/>
                <a:ea typeface="+mn-ea"/>
                <a:cs typeface="Arial" panose="020B0604020202020204" pitchFamily="34" charset="0"/>
              </a:rPr>
              <a:t>Calgary   |            5|</a:t>
            </a:r>
          </a:p>
        </p:txBody>
      </p:sp>
      <p:sp>
        <p:nvSpPr>
          <p:cNvPr id="3" name="Content Placeholder 3">
            <a:extLst>
              <a:ext uri="{FF2B5EF4-FFF2-40B4-BE49-F238E27FC236}">
                <a16:creationId xmlns:a16="http://schemas.microsoft.com/office/drawing/2014/main" id="{A367C734-8410-3B19-E682-DFFD390ECC95}"/>
              </a:ext>
            </a:extLst>
          </p:cNvPr>
          <p:cNvSpPr txBox="1">
            <a:spLocks/>
          </p:cNvSpPr>
          <p:nvPr/>
        </p:nvSpPr>
        <p:spPr>
          <a:xfrm>
            <a:off x="677334" y="2007208"/>
            <a:ext cx="8596668" cy="189093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ASC (Ascending) -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sorting in ascending order (default).</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r>
              <a:rPr kumimoji="0" lang="en-US" altLang="en-US" sz="1800" b="1" i="0" u="none" strike="noStrike" kern="1200" cap="none" spc="0" normalizeH="0" baseline="0" noProof="0" dirty="0">
                <a:ln>
                  <a:noFill/>
                </a:ln>
                <a:solidFill>
                  <a:srgbClr val="90C226"/>
                </a:solidFill>
                <a:effectLst/>
                <a:uLnTx/>
                <a:uFillTx/>
                <a:latin typeface="Trebuchet MS" panose="020B0603020202020204"/>
                <a:ea typeface="+mn-ea"/>
                <a:cs typeface="+mn-cs"/>
              </a:rPr>
              <a:t>DESC (Descending) - </a:t>
            </a:r>
            <a:r>
              <a:rPr kumimoji="0" lang="en-US" altLang="en-US"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rPr>
              <a:t>sorting in descending order.</a:t>
            </a:r>
          </a:p>
          <a:p>
            <a:pPr marL="342900" marR="0" lvl="0" indent="-342900" algn="l" defTabSz="457200" rtl="0" eaLnBrk="1" fontAlgn="base" latinLnBrk="0" hangingPunct="1">
              <a:lnSpc>
                <a:spcPct val="100000"/>
              </a:lnSpc>
              <a:spcBef>
                <a:spcPts val="1000"/>
              </a:spcBef>
              <a:spcAft>
                <a:spcPts val="0"/>
              </a:spcAft>
              <a:buClr>
                <a:srgbClr val="90C226"/>
              </a:buClr>
              <a:buSzPct val="80000"/>
              <a:buFont typeface="Wingdings 3" charset="2"/>
              <a:buChar char=""/>
              <a:tabLst/>
              <a:defRPr/>
            </a:pPr>
            <a:endParaRPr kumimoji="0" lang="ru-RU" sz="1800" b="0" i="0" u="none" strike="noStrike" kern="1200" cap="none" spc="0" normalizeH="0" baseline="0" noProof="0" dirty="0">
              <a:ln>
                <a:noFill/>
              </a:ln>
              <a:solidFill>
                <a:prstClr val="white">
                  <a:lumMod val="75000"/>
                  <a:lumOff val="25000"/>
                </a:prstClr>
              </a:solidFill>
              <a:effectLst/>
              <a:uLnTx/>
              <a:uFillTx/>
              <a:latin typeface="Trebuchet MS" panose="020B0603020202020204"/>
              <a:ea typeface="+mn-ea"/>
              <a:cs typeface="+mn-cs"/>
            </a:endParaRPr>
          </a:p>
        </p:txBody>
      </p:sp>
    </p:spTree>
    <p:extLst>
      <p:ext uri="{BB962C8B-B14F-4D97-AF65-F5344CB8AC3E}">
        <p14:creationId xmlns:p14="http://schemas.microsoft.com/office/powerpoint/2010/main" val="328824429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1171</TotalTime>
  <Words>1755</Words>
  <Application>Microsoft Office PowerPoint</Application>
  <PresentationFormat>Widescreen</PresentationFormat>
  <Paragraphs>153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Consolas</vt:lpstr>
      <vt:lpstr>Trebuchet MS</vt:lpstr>
      <vt:lpstr>Wingdings 3</vt:lpstr>
      <vt:lpstr>Facet</vt:lpstr>
      <vt:lpstr>Introduction to databases and SQL</vt:lpstr>
      <vt:lpstr>Structured Query Language (SQL)</vt:lpstr>
      <vt:lpstr>SQL Keywords</vt:lpstr>
      <vt:lpstr>Identifiers</vt:lpstr>
      <vt:lpstr>Operators</vt:lpstr>
      <vt:lpstr>Literals</vt:lpstr>
      <vt:lpstr>Special Characters</vt:lpstr>
      <vt:lpstr>Functions</vt:lpstr>
      <vt:lpstr>Aliases </vt:lpstr>
      <vt:lpstr>SELECT</vt:lpstr>
      <vt:lpstr>FROM</vt:lpstr>
      <vt:lpstr>WHERE</vt:lpstr>
      <vt:lpstr>COUNT</vt:lpstr>
      <vt:lpstr>GROUP BY</vt:lpstr>
      <vt:lpstr>HAVING</vt:lpstr>
      <vt:lpstr>ORDER BY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Aleksei Pichushkin</dc:creator>
  <cp:lastModifiedBy>Aleksei Pichushkin</cp:lastModifiedBy>
  <cp:revision>9</cp:revision>
  <dcterms:created xsi:type="dcterms:W3CDTF">2025-04-22T10:19:46Z</dcterms:created>
  <dcterms:modified xsi:type="dcterms:W3CDTF">2025-04-23T05:53:46Z</dcterms:modified>
</cp:coreProperties>
</file>