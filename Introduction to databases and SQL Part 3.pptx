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86" r:id="rId2"/>
    <p:sldId id="273" r:id="rId3"/>
    <p:sldId id="279" r:id="rId4"/>
    <p:sldId id="280" r:id="rId5"/>
    <p:sldId id="290" r:id="rId6"/>
    <p:sldId id="291" r:id="rId7"/>
    <p:sldId id="292" r:id="rId8"/>
    <p:sldId id="293" r:id="rId9"/>
    <p:sldId id="29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3C43"/>
    <a:srgbClr val="7AA5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2542" autoAdjust="0"/>
  </p:normalViewPr>
  <p:slideViewPr>
    <p:cSldViewPr snapToGrid="0">
      <p:cViewPr varScale="1">
        <p:scale>
          <a:sx n="81" d="100"/>
          <a:sy n="81" d="100"/>
        </p:scale>
        <p:origin x="175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2FDC89-D88D-40BE-934B-52955C941B41}" type="datetimeFigureOut">
              <a:rPr lang="en-US" smtClean="0"/>
              <a:t>05/05/25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A19C78-6F50-4953-9C79-39F9F1C899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257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19C78-6F50-4953-9C79-39F9F1C899F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6209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/>
              <a:t>JOIN</a:t>
            </a:r>
            <a:r>
              <a:rPr lang="ru-RU" dirty="0"/>
              <a:t> — это операция в языке SQL, которая используется для </a:t>
            </a:r>
            <a:r>
              <a:rPr lang="ru-RU" b="1" dirty="0"/>
              <a:t>объединения данных из двух или более таблиц</a:t>
            </a:r>
            <a:r>
              <a:rPr lang="ru-RU" dirty="0"/>
              <a:t> на основе логической связи между ними, чаще всего через </a:t>
            </a:r>
            <a:r>
              <a:rPr lang="ru-RU" b="1" dirty="0"/>
              <a:t>внешние и первичные ключи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JOIN позволяет создавать </a:t>
            </a:r>
            <a:r>
              <a:rPr lang="ru-RU" b="1" dirty="0"/>
              <a:t>новую таблицу результатов</a:t>
            </a:r>
            <a:r>
              <a:rPr lang="ru-RU" dirty="0"/>
              <a:t>, в которой строки из разных таблиц сопоставляются по совпадающим значениям в указанных столбцах. </a:t>
            </a:r>
            <a:br>
              <a:rPr lang="ru-RU" dirty="0"/>
            </a:br>
            <a:br>
              <a:rPr lang="ru-RU" dirty="0"/>
            </a:br>
            <a:r>
              <a:rPr lang="ru-RU" dirty="0"/>
              <a:t>JOIN используется для построения </a:t>
            </a:r>
            <a:r>
              <a:rPr lang="ru-RU" b="1" dirty="0"/>
              <a:t>связанных отчетов, аналитики и сложных выборок</a:t>
            </a:r>
            <a:r>
              <a:rPr lang="ru-RU" dirty="0"/>
              <a:t>, когда данные распределены по нормализованным таблицам.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19C78-6F50-4953-9C79-39F9F1C899F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9807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INNER JOIN</a:t>
            </a:r>
            <a:r>
              <a:rPr lang="ru-RU" dirty="0"/>
              <a:t> — возвращает только те строки, у которых есть совпадения в обеих таблицах.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LEFT JOIN</a:t>
            </a:r>
            <a:r>
              <a:rPr lang="ru-RU" dirty="0"/>
              <a:t> — возвращает все строки из левой таблицы и совпадающие из правой (если совпадений нет — подставляется NULL).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RIGHT JOIN</a:t>
            </a:r>
            <a:r>
              <a:rPr lang="ru-RU" dirty="0"/>
              <a:t> — возвращает все строки из правой таблицы и совпадающие из левой.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FULL JOIN</a:t>
            </a:r>
            <a:r>
              <a:rPr lang="ru-RU" dirty="0"/>
              <a:t> — возвращает все строки из обеих таблиц, включая несовпадающие (с NULL в недостающих столбцах).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CROSS JOIN</a:t>
            </a:r>
            <a:r>
              <a:rPr lang="ru-RU" dirty="0"/>
              <a:t> — возвращает комбинации всех строк двух таблиц (декартово произведение).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SELF JOIN</a:t>
            </a:r>
            <a:r>
              <a:rPr lang="ru-RU" dirty="0"/>
              <a:t> — соединяет таблицу саму с собой, как будто это две разные таблицы (часто используется для иерархий и связей внутри одной таблицы).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19C78-6F50-4953-9C79-39F9F1C899F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6722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INNER JOIN — это тип соединения таблиц, при котором в результирующий набор попадают </a:t>
            </a:r>
            <a:r>
              <a:rPr lang="ru-RU" b="1" dirty="0"/>
              <a:t>только те строки</a:t>
            </a:r>
            <a:r>
              <a:rPr lang="ru-RU" dirty="0"/>
              <a:t>, у которых </a:t>
            </a:r>
            <a:r>
              <a:rPr lang="ru-RU" b="1" dirty="0"/>
              <a:t>есть совпадения</a:t>
            </a:r>
            <a:r>
              <a:rPr lang="ru-RU" dirty="0"/>
              <a:t> по заданному условию соединения (ON) в обеих таблицах.</a:t>
            </a:r>
          </a:p>
          <a:p>
            <a:r>
              <a:rPr lang="ru-RU" dirty="0"/>
              <a:t>Иными словами, INNER JOIN возвращает </a:t>
            </a:r>
            <a:r>
              <a:rPr lang="ru-RU" b="1" dirty="0"/>
              <a:t>только пересечения</a:t>
            </a:r>
            <a:r>
              <a:rPr lang="ru-RU" dirty="0"/>
              <a:t> двух таблиц — записи, присутствующие одновременно в обеих, по указанному критерию.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19C78-6F50-4953-9C79-39F9F1C899F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4072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FULL OUTER JOIN — это тип соединения таблиц, при котором в результат включаются </a:t>
            </a:r>
            <a:r>
              <a:rPr lang="ru-RU" b="1" dirty="0"/>
              <a:t>все строки</a:t>
            </a:r>
            <a:r>
              <a:rPr lang="ru-RU" dirty="0"/>
              <a:t> из </a:t>
            </a:r>
            <a:r>
              <a:rPr lang="ru-RU" b="1" dirty="0"/>
              <a:t>обеих таблиц</a:t>
            </a:r>
            <a:r>
              <a:rPr lang="ru-RU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Если строки совпадают по условию соединения (ON) — они объединяются.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Если </a:t>
            </a:r>
            <a:r>
              <a:rPr lang="ru-RU" b="1" dirty="0"/>
              <a:t>нет совпадения</a:t>
            </a:r>
            <a:r>
              <a:rPr lang="ru-RU" dirty="0"/>
              <a:t> — строка попадает в результат с NULL в полях отсутствующей таблицы.</a:t>
            </a:r>
          </a:p>
          <a:p>
            <a:r>
              <a:rPr lang="ru-RU" dirty="0"/>
              <a:t>Таким образом, FULL OUTER JOIN показывает </a:t>
            </a:r>
            <a:r>
              <a:rPr lang="ru-RU" b="1" dirty="0"/>
              <a:t>все возможные данные</a:t>
            </a:r>
            <a:r>
              <a:rPr lang="ru-RU" dirty="0"/>
              <a:t>, включая совпадающие и несовпадающие строки.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19C78-6F50-4953-9C79-39F9F1C899F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2669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LEFT OUTER JOIN (или просто LEFT JOIN) — это тип соединения таблиц, при котором в результат включаются: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все строки из левой таблицы</a:t>
            </a:r>
            <a:r>
              <a:rPr lang="ru-RU" dirty="0"/>
              <a:t> (таблицы, указанной первой в запросе),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и </a:t>
            </a:r>
            <a:r>
              <a:rPr lang="ru-RU" b="1" dirty="0"/>
              <a:t>только совпадающие строки</a:t>
            </a:r>
            <a:r>
              <a:rPr lang="ru-RU" dirty="0"/>
              <a:t> из правой таблицы (вторая таблица),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при отсутствии совпадений в правой таблице — её значения заполняются NULL.</a:t>
            </a:r>
          </a:p>
          <a:p>
            <a:r>
              <a:rPr lang="ru-RU" dirty="0"/>
              <a:t>Таким образом, LEFT JOIN позволяет увидеть </a:t>
            </a:r>
            <a:r>
              <a:rPr lang="ru-RU" b="1" dirty="0"/>
              <a:t>все данные из левой таблицы</a:t>
            </a:r>
            <a:r>
              <a:rPr lang="ru-RU" dirty="0"/>
              <a:t>, даже если в правой таблице нет соответствующих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19C78-6F50-4953-9C79-39F9F1C899F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1568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RIGHT OUTER JOIN (или просто RIGHT JOIN) — это тип соединения таблиц, при котором в результат включаются: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все строки из правой таблицы</a:t>
            </a:r>
            <a:r>
              <a:rPr lang="ru-RU" dirty="0"/>
              <a:t> (вторая таблица в запросе),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и </a:t>
            </a:r>
            <a:r>
              <a:rPr lang="ru-RU" b="1" dirty="0"/>
              <a:t>только совпадающие строки</a:t>
            </a:r>
            <a:r>
              <a:rPr lang="ru-RU" dirty="0"/>
              <a:t> из левой таблицы (первая таблица),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при отсутствии совпадения в левой таблице — её значения заполняются NULL.</a:t>
            </a:r>
          </a:p>
          <a:p>
            <a:r>
              <a:rPr lang="ru-RU" dirty="0"/>
              <a:t>Таким образом, RIGHT JOIN позволяет получить </a:t>
            </a:r>
            <a:r>
              <a:rPr lang="ru-RU" b="1" dirty="0"/>
              <a:t>все данные из правой таблицы</a:t>
            </a:r>
            <a:r>
              <a:rPr lang="ru-RU" dirty="0"/>
              <a:t>, даже если в левой нет соответствующих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19C78-6F50-4953-9C79-39F9F1C899F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3080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CROSS JOIN — это тип соединения, при котором каждая строка из первой таблицы соединяется </a:t>
            </a:r>
            <a:r>
              <a:rPr lang="ru-RU" b="1" dirty="0"/>
              <a:t>со всеми строками второй таблицы</a:t>
            </a:r>
            <a:r>
              <a:rPr lang="ru-RU" dirty="0"/>
              <a:t>.</a:t>
            </a:r>
          </a:p>
          <a:p>
            <a:r>
              <a:rPr lang="ru-RU" dirty="0"/>
              <a:t>Это так называемое </a:t>
            </a:r>
            <a:r>
              <a:rPr lang="ru-RU" b="1" dirty="0"/>
              <a:t>декартово произведение</a:t>
            </a:r>
            <a:r>
              <a:rPr lang="ru-RU" dirty="0"/>
              <a:t> (</a:t>
            </a:r>
            <a:r>
              <a:rPr lang="ru-RU" dirty="0" err="1"/>
              <a:t>Cartesian</a:t>
            </a:r>
            <a:r>
              <a:rPr lang="ru-RU" dirty="0"/>
              <a:t> </a:t>
            </a:r>
            <a:r>
              <a:rPr lang="ru-RU" dirty="0" err="1"/>
              <a:t>product</a:t>
            </a:r>
            <a:r>
              <a:rPr lang="ru-RU" dirty="0"/>
              <a:t>) двух таблиц.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Если в первой таблице n строк, а во второй m, результат будет содержать n × m строк.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CROSS JOIN не требует условия ON, так как соединяются </a:t>
            </a:r>
            <a:r>
              <a:rPr lang="ru-RU" b="1" dirty="0"/>
              <a:t>все возможные комбинации строк</a:t>
            </a:r>
            <a:r>
              <a:rPr lang="ru-RU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19C78-6F50-4953-9C79-39F9F1C899F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115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/>
              <a:t>SELF JOIN</a:t>
            </a:r>
            <a:r>
              <a:rPr lang="ru-RU" dirty="0"/>
              <a:t> — это соединение таблицы самой с собой.</a:t>
            </a:r>
            <a:br>
              <a:rPr lang="ru-RU" dirty="0"/>
            </a:br>
            <a:r>
              <a:rPr lang="ru-RU" dirty="0"/>
              <a:t>Он используется, когда строки одной таблицы логически связаны друг с другом.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19C78-6F50-4953-9C79-39F9F1C899F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381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05/05/25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558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05/05/25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041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05/05/25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5300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05/05/25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498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05/05/25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326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05/05/25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2981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05/05/25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303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05/05/25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2753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05/05/25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81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05/05/25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545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05/05/25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295079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05/05/25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374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05/05/25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065888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05/05/25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5260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05/05/25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0114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05/05/25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784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05/05/25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2977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Introduction to databases and SQL</a:t>
            </a:r>
            <a:endParaRPr lang="ru-R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Ameria</a:t>
            </a:r>
            <a:r>
              <a:rPr lang="en-US" dirty="0"/>
              <a:t> bank</a:t>
            </a:r>
            <a:br>
              <a:rPr lang="ru-RU" dirty="0"/>
            </a:br>
            <a:r>
              <a:rPr lang="en-US" dirty="0"/>
              <a:t>Lesson 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54599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JOIN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00753"/>
            <a:ext cx="8846676" cy="40400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90C226"/>
                </a:solidFill>
              </a:rPr>
              <a:t>	JOIN</a:t>
            </a:r>
            <a:r>
              <a:rPr lang="en-US" sz="2400" dirty="0"/>
              <a:t> is an SQL operation used to combine data from two or more tables based on a logical relationship between them, most commonly through primary and foreign </a:t>
            </a:r>
            <a:r>
              <a:rPr lang="en-US" sz="2400" dirty="0" err="1"/>
              <a:t>keys.A</a:t>
            </a:r>
            <a:r>
              <a:rPr lang="en-US" sz="2400" dirty="0"/>
              <a:t> JOIN creates a new result set where rows from different tables are matched based on common values in specified columns.</a:t>
            </a:r>
            <a:endParaRPr lang="ru-RU" sz="2400" dirty="0"/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r>
              <a:rPr lang="en-US" sz="2400" dirty="0"/>
              <a:t>JOIN is essential for building related reports, analytics, and complex queries in normalized databases.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107821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JOINs</a:t>
            </a:r>
            <a:endParaRPr lang="ru-RU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389E4EF-B340-3369-17AA-0D5247231BF4}"/>
              </a:ext>
            </a:extLst>
          </p:cNvPr>
          <p:cNvGrpSpPr/>
          <p:nvPr/>
        </p:nvGrpSpPr>
        <p:grpSpPr>
          <a:xfrm>
            <a:off x="1647293" y="1550021"/>
            <a:ext cx="1941034" cy="1165138"/>
            <a:chOff x="2303720" y="2243777"/>
            <a:chExt cx="4451268" cy="2671948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B4F58B0-35A4-7CDD-72C3-9FF687A96207}"/>
                </a:ext>
              </a:extLst>
            </p:cNvPr>
            <p:cNvSpPr/>
            <p:nvPr/>
          </p:nvSpPr>
          <p:spPr>
            <a:xfrm>
              <a:off x="2303720" y="2243777"/>
              <a:ext cx="2671948" cy="2671948"/>
            </a:xfrm>
            <a:prstGeom prst="ellipse">
              <a:avLst/>
            </a:prstGeom>
            <a:solidFill>
              <a:srgbClr val="2C3C4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800" b="1" dirty="0"/>
                <a:t>A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B52AC89-6EA3-3B35-3424-1865EB051943}"/>
                </a:ext>
              </a:extLst>
            </p:cNvPr>
            <p:cNvSpPr/>
            <p:nvPr/>
          </p:nvSpPr>
          <p:spPr>
            <a:xfrm>
              <a:off x="4083040" y="2243777"/>
              <a:ext cx="2671948" cy="2671948"/>
            </a:xfrm>
            <a:prstGeom prst="ellipse">
              <a:avLst/>
            </a:prstGeom>
            <a:solidFill>
              <a:srgbClr val="2C3C4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800" b="1" dirty="0"/>
                <a:t>B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3684AAB-FED8-D366-C544-12C8E7CCABCD}"/>
                </a:ext>
              </a:extLst>
            </p:cNvPr>
            <p:cNvSpPr/>
            <p:nvPr/>
          </p:nvSpPr>
          <p:spPr>
            <a:xfrm>
              <a:off x="2303720" y="2243777"/>
              <a:ext cx="2671948" cy="267194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800" b="1" dirty="0"/>
                <a:t>A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87D8141-76D1-190A-58BC-FB2C0E3194C4}"/>
              </a:ext>
            </a:extLst>
          </p:cNvPr>
          <p:cNvGrpSpPr/>
          <p:nvPr/>
        </p:nvGrpSpPr>
        <p:grpSpPr>
          <a:xfrm>
            <a:off x="5789802" y="1550021"/>
            <a:ext cx="1941034" cy="1165138"/>
            <a:chOff x="2303720" y="2243777"/>
            <a:chExt cx="4451268" cy="2671948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C7FF182-C680-2203-6A97-9A2BD1421A8A}"/>
                </a:ext>
              </a:extLst>
            </p:cNvPr>
            <p:cNvSpPr/>
            <p:nvPr/>
          </p:nvSpPr>
          <p:spPr>
            <a:xfrm>
              <a:off x="2303720" y="2243777"/>
              <a:ext cx="2671948" cy="2671948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800" b="1" dirty="0"/>
                <a:t>A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C963D66-4E8F-EA6D-D7BB-AFE02F7A8B8E}"/>
                </a:ext>
              </a:extLst>
            </p:cNvPr>
            <p:cNvSpPr/>
            <p:nvPr/>
          </p:nvSpPr>
          <p:spPr>
            <a:xfrm>
              <a:off x="4083040" y="2243777"/>
              <a:ext cx="2671948" cy="2671948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800" b="1" dirty="0"/>
                <a:t>B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55D4144-FDBE-C659-365F-140092A29C35}"/>
                </a:ext>
              </a:extLst>
            </p:cNvPr>
            <p:cNvSpPr/>
            <p:nvPr/>
          </p:nvSpPr>
          <p:spPr>
            <a:xfrm>
              <a:off x="2303720" y="2243777"/>
              <a:ext cx="2671948" cy="267194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800" b="1" dirty="0"/>
                <a:t>A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ED93614-3EF5-CE6B-233B-62378A78F619}"/>
              </a:ext>
            </a:extLst>
          </p:cNvPr>
          <p:cNvGrpSpPr/>
          <p:nvPr/>
        </p:nvGrpSpPr>
        <p:grpSpPr>
          <a:xfrm>
            <a:off x="1647293" y="3295650"/>
            <a:ext cx="1941034" cy="1165138"/>
            <a:chOff x="2303720" y="2243777"/>
            <a:chExt cx="4451268" cy="2671948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A193156A-4A0C-DB57-B308-261BCE6958A3}"/>
                </a:ext>
              </a:extLst>
            </p:cNvPr>
            <p:cNvSpPr/>
            <p:nvPr/>
          </p:nvSpPr>
          <p:spPr>
            <a:xfrm>
              <a:off x="2303720" y="2243777"/>
              <a:ext cx="2671948" cy="267194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800" b="1" dirty="0"/>
                <a:t>A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E5E92F7-8602-A0F3-F3CC-CCF8CDB5166F}"/>
                </a:ext>
              </a:extLst>
            </p:cNvPr>
            <p:cNvSpPr/>
            <p:nvPr/>
          </p:nvSpPr>
          <p:spPr>
            <a:xfrm>
              <a:off x="4083040" y="2243777"/>
              <a:ext cx="2671948" cy="2671948"/>
            </a:xfrm>
            <a:prstGeom prst="ellipse">
              <a:avLst/>
            </a:prstGeom>
            <a:solidFill>
              <a:srgbClr val="2C3C4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800" b="1" dirty="0"/>
                <a:t>B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DEA7165-22CB-D387-9645-DD85313CB064}"/>
                </a:ext>
              </a:extLst>
            </p:cNvPr>
            <p:cNvSpPr/>
            <p:nvPr/>
          </p:nvSpPr>
          <p:spPr>
            <a:xfrm>
              <a:off x="2303720" y="2243777"/>
              <a:ext cx="2671948" cy="2671948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800" b="1" dirty="0"/>
                <a:t>A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6524C0C-017A-3A7A-12AE-0208949FE634}"/>
              </a:ext>
            </a:extLst>
          </p:cNvPr>
          <p:cNvGrpSpPr/>
          <p:nvPr/>
        </p:nvGrpSpPr>
        <p:grpSpPr>
          <a:xfrm>
            <a:off x="5832095" y="3295650"/>
            <a:ext cx="1941034" cy="1165138"/>
            <a:chOff x="2303720" y="2243777"/>
            <a:chExt cx="4451268" cy="2671948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5B64BF9-A170-1E9C-41FC-FCBF7CF224A6}"/>
                </a:ext>
              </a:extLst>
            </p:cNvPr>
            <p:cNvSpPr/>
            <p:nvPr/>
          </p:nvSpPr>
          <p:spPr>
            <a:xfrm>
              <a:off x="2303720" y="2243777"/>
              <a:ext cx="2671948" cy="2671948"/>
            </a:xfrm>
            <a:prstGeom prst="ellipse">
              <a:avLst/>
            </a:prstGeom>
            <a:solidFill>
              <a:srgbClr val="2C3C4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800" b="1" dirty="0"/>
                <a:t>A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5339C48F-3B14-FD56-1749-F551498AF492}"/>
                </a:ext>
              </a:extLst>
            </p:cNvPr>
            <p:cNvSpPr/>
            <p:nvPr/>
          </p:nvSpPr>
          <p:spPr>
            <a:xfrm>
              <a:off x="4083040" y="2243777"/>
              <a:ext cx="2671948" cy="2671948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800" b="1" dirty="0"/>
                <a:t>B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6E21F3B-2210-9C65-8B51-784C453806AF}"/>
                </a:ext>
              </a:extLst>
            </p:cNvPr>
            <p:cNvSpPr/>
            <p:nvPr/>
          </p:nvSpPr>
          <p:spPr>
            <a:xfrm>
              <a:off x="2303720" y="2243777"/>
              <a:ext cx="2671948" cy="267194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800" b="1" dirty="0"/>
                <a:t>A</a:t>
              </a: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37835E93-0818-4FAE-5160-FCECBB41285D}"/>
              </a:ext>
            </a:extLst>
          </p:cNvPr>
          <p:cNvSpPr txBox="1"/>
          <p:nvPr/>
        </p:nvSpPr>
        <p:spPr>
          <a:xfrm>
            <a:off x="1899961" y="2746869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INNER JOIN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C3DB8F1-A737-B9E8-F474-AEA6BDCD7F82}"/>
              </a:ext>
            </a:extLst>
          </p:cNvPr>
          <p:cNvSpPr txBox="1"/>
          <p:nvPr/>
        </p:nvSpPr>
        <p:spPr>
          <a:xfrm>
            <a:off x="6196475" y="2710875"/>
            <a:ext cx="1227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FULL JOIN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1C6270C-A065-AAE6-CE47-108A6DB51166}"/>
              </a:ext>
            </a:extLst>
          </p:cNvPr>
          <p:cNvSpPr txBox="1"/>
          <p:nvPr/>
        </p:nvSpPr>
        <p:spPr>
          <a:xfrm>
            <a:off x="1962157" y="4506392"/>
            <a:ext cx="1224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LEFT JOIN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1F360F1-D58A-572B-9482-835CC28D4243}"/>
              </a:ext>
            </a:extLst>
          </p:cNvPr>
          <p:cNvSpPr txBox="1"/>
          <p:nvPr/>
        </p:nvSpPr>
        <p:spPr>
          <a:xfrm>
            <a:off x="6126937" y="4506392"/>
            <a:ext cx="1366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RIGHT JOIN</a:t>
            </a:r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FF56A2B7-773B-5CFB-E1B1-5FB5D8DA782F}"/>
              </a:ext>
            </a:extLst>
          </p:cNvPr>
          <p:cNvGrpSpPr/>
          <p:nvPr/>
        </p:nvGrpSpPr>
        <p:grpSpPr>
          <a:xfrm>
            <a:off x="1277095" y="4960418"/>
            <a:ext cx="2594176" cy="1287982"/>
            <a:chOff x="1277095" y="4960418"/>
            <a:chExt cx="2594176" cy="1287982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D49F6530-D2B5-B967-8C0A-00E2A03A6846}"/>
                </a:ext>
              </a:extLst>
            </p:cNvPr>
            <p:cNvGrpSpPr/>
            <p:nvPr/>
          </p:nvGrpSpPr>
          <p:grpSpPr>
            <a:xfrm>
              <a:off x="1277095" y="5054678"/>
              <a:ext cx="2594176" cy="1165138"/>
              <a:chOff x="2303720" y="2243777"/>
              <a:chExt cx="5949083" cy="2671948"/>
            </a:xfrm>
          </p:grpSpPr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C101914D-5139-06D1-F3E9-258145D8C031}"/>
                  </a:ext>
                </a:extLst>
              </p:cNvPr>
              <p:cNvSpPr/>
              <p:nvPr/>
            </p:nvSpPr>
            <p:spPr>
              <a:xfrm>
                <a:off x="2303720" y="2243777"/>
                <a:ext cx="2671948" cy="2671948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4800" b="1" dirty="0"/>
                  <a:t>A</a:t>
                </a:r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A91FF994-AC5D-D0BD-E7F6-13CE109E83E8}"/>
                  </a:ext>
                </a:extLst>
              </p:cNvPr>
              <p:cNvSpPr/>
              <p:nvPr/>
            </p:nvSpPr>
            <p:spPr>
              <a:xfrm>
                <a:off x="5580855" y="2243777"/>
                <a:ext cx="2671948" cy="2671948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 sz="4800" b="1" dirty="0"/>
                  <a:t>B</a:t>
                </a:r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808F05AF-21DA-B3E7-3353-0D86CD8F4E10}"/>
                </a:ext>
              </a:extLst>
            </p:cNvPr>
            <p:cNvSpPr txBox="1"/>
            <p:nvPr/>
          </p:nvSpPr>
          <p:spPr>
            <a:xfrm>
              <a:off x="1899961" y="4960419"/>
              <a:ext cx="259080" cy="128798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dirty="0"/>
                <a:t>123</a:t>
              </a:r>
            </a:p>
          </p:txBody>
        </p: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BA3BBF10-C5B1-0331-9E50-43EA6EC12881}"/>
                </a:ext>
              </a:extLst>
            </p:cNvPr>
            <p:cNvCxnSpPr>
              <a:cxnSpLocks/>
            </p:cNvCxnSpPr>
            <p:nvPr/>
          </p:nvCxnSpPr>
          <p:spPr>
            <a:xfrm>
              <a:off x="2133422" y="5237673"/>
              <a:ext cx="85266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69F28372-BE13-3221-5B59-D1CD91312E78}"/>
                </a:ext>
              </a:extLst>
            </p:cNvPr>
            <p:cNvSpPr txBox="1"/>
            <p:nvPr/>
          </p:nvSpPr>
          <p:spPr>
            <a:xfrm>
              <a:off x="2942609" y="4960418"/>
              <a:ext cx="259080" cy="128798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dirty="0"/>
                <a:t>XYZ</a:t>
              </a:r>
            </a:p>
          </p:txBody>
        </p: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EA3E88A3-FDD3-1948-516F-FCA95E1526FB}"/>
                </a:ext>
              </a:extLst>
            </p:cNvPr>
            <p:cNvCxnSpPr>
              <a:cxnSpLocks/>
            </p:cNvCxnSpPr>
            <p:nvPr/>
          </p:nvCxnSpPr>
          <p:spPr>
            <a:xfrm>
              <a:off x="2147850" y="5638551"/>
              <a:ext cx="85266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96E46450-1195-EAA7-4D0D-F01F8ACC026B}"/>
                </a:ext>
              </a:extLst>
            </p:cNvPr>
            <p:cNvCxnSpPr>
              <a:cxnSpLocks/>
            </p:cNvCxnSpPr>
            <p:nvPr/>
          </p:nvCxnSpPr>
          <p:spPr>
            <a:xfrm>
              <a:off x="2147850" y="6062413"/>
              <a:ext cx="85266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A019911E-0152-75E4-91EB-8D342CBE4370}"/>
                </a:ext>
              </a:extLst>
            </p:cNvPr>
            <p:cNvCxnSpPr>
              <a:cxnSpLocks/>
            </p:cNvCxnSpPr>
            <p:nvPr/>
          </p:nvCxnSpPr>
          <p:spPr>
            <a:xfrm>
              <a:off x="2133422" y="5237673"/>
              <a:ext cx="902672" cy="701165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CAD5C909-D480-5082-AB1A-D929796D8E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47850" y="5362575"/>
              <a:ext cx="866813" cy="699838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2DD2ACAA-1178-BE6D-257F-0D535227B5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47196" y="5299353"/>
              <a:ext cx="838892" cy="337894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715F3B55-5E61-0B65-4A07-E6DFC70F6112}"/>
                </a:ext>
              </a:extLst>
            </p:cNvPr>
            <p:cNvCxnSpPr>
              <a:cxnSpLocks/>
            </p:cNvCxnSpPr>
            <p:nvPr/>
          </p:nvCxnSpPr>
          <p:spPr>
            <a:xfrm>
              <a:off x="2147888" y="5634038"/>
              <a:ext cx="857250" cy="369093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24DAF72F-C056-CE98-B95B-495E4AEF78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50269" y="5693569"/>
              <a:ext cx="864394" cy="371475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FC696B84-1573-0CC5-7F7E-3D0071673F1C}"/>
                </a:ext>
              </a:extLst>
            </p:cNvPr>
            <p:cNvCxnSpPr>
              <a:cxnSpLocks/>
            </p:cNvCxnSpPr>
            <p:nvPr/>
          </p:nvCxnSpPr>
          <p:spPr>
            <a:xfrm>
              <a:off x="2140655" y="5243804"/>
              <a:ext cx="864483" cy="342609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4" name="TextBox 113">
            <a:extLst>
              <a:ext uri="{FF2B5EF4-FFF2-40B4-BE49-F238E27FC236}">
                <a16:creationId xmlns:a16="http://schemas.microsoft.com/office/drawing/2014/main" id="{34FE5AE6-3BBA-4244-CDEC-D00C9DE39E55}"/>
              </a:ext>
            </a:extLst>
          </p:cNvPr>
          <p:cNvSpPr txBox="1"/>
          <p:nvPr/>
        </p:nvSpPr>
        <p:spPr>
          <a:xfrm>
            <a:off x="1876389" y="6261958"/>
            <a:ext cx="1380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CROSS JOIN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163D0929-7F5E-3B67-187D-5C6B68D243CA}"/>
              </a:ext>
            </a:extLst>
          </p:cNvPr>
          <p:cNvSpPr txBox="1"/>
          <p:nvPr/>
        </p:nvSpPr>
        <p:spPr>
          <a:xfrm>
            <a:off x="6208209" y="6227234"/>
            <a:ext cx="1204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SELF JOIN</a:t>
            </a: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11FF0CA1-70A4-B592-5914-A6F8F714A24F}"/>
              </a:ext>
            </a:extLst>
          </p:cNvPr>
          <p:cNvGrpSpPr/>
          <p:nvPr/>
        </p:nvGrpSpPr>
        <p:grpSpPr>
          <a:xfrm>
            <a:off x="6227728" y="4953604"/>
            <a:ext cx="1633804" cy="1273630"/>
            <a:chOff x="6227728" y="4953604"/>
            <a:chExt cx="1633804" cy="127363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6607570-C455-021D-643A-03053281E876}"/>
                </a:ext>
              </a:extLst>
            </p:cNvPr>
            <p:cNvGrpSpPr/>
            <p:nvPr/>
          </p:nvGrpSpPr>
          <p:grpSpPr>
            <a:xfrm>
              <a:off x="6227728" y="5062096"/>
              <a:ext cx="1165138" cy="1165138"/>
              <a:chOff x="2303720" y="2243777"/>
              <a:chExt cx="2671948" cy="2671948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10CD8FB4-A5DE-264A-4EEF-0EB1CC7E53C0}"/>
                  </a:ext>
                </a:extLst>
              </p:cNvPr>
              <p:cNvSpPr/>
              <p:nvPr/>
            </p:nvSpPr>
            <p:spPr>
              <a:xfrm>
                <a:off x="2303720" y="2243777"/>
                <a:ext cx="2671948" cy="2671948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800" b="1" dirty="0"/>
                  <a:t>A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7B4AC986-869B-1F23-FF53-90339C5DD1EB}"/>
                  </a:ext>
                </a:extLst>
              </p:cNvPr>
              <p:cNvSpPr/>
              <p:nvPr/>
            </p:nvSpPr>
            <p:spPr>
              <a:xfrm>
                <a:off x="2303720" y="2243777"/>
                <a:ext cx="2671948" cy="2671948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800" b="1" dirty="0"/>
                  <a:t>A</a:t>
                </a:r>
              </a:p>
            </p:txBody>
          </p:sp>
        </p:grpSp>
        <p:sp>
          <p:nvSpPr>
            <p:cNvPr id="116" name="Arc 115">
              <a:extLst>
                <a:ext uri="{FF2B5EF4-FFF2-40B4-BE49-F238E27FC236}">
                  <a16:creationId xmlns:a16="http://schemas.microsoft.com/office/drawing/2014/main" id="{5E9647D3-19B2-A51E-8913-38043629FB49}"/>
                </a:ext>
              </a:extLst>
            </p:cNvPr>
            <p:cNvSpPr/>
            <p:nvPr/>
          </p:nvSpPr>
          <p:spPr>
            <a:xfrm rot="19958934">
              <a:off x="7012992" y="4953604"/>
              <a:ext cx="848540" cy="948453"/>
            </a:xfrm>
            <a:prstGeom prst="arc">
              <a:avLst>
                <a:gd name="adj1" fmla="val 14738016"/>
                <a:gd name="adj2" fmla="val 7873125"/>
              </a:avLst>
            </a:prstGeom>
            <a:noFill/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1" name="Freeform: Shape 120">
            <a:extLst>
              <a:ext uri="{FF2B5EF4-FFF2-40B4-BE49-F238E27FC236}">
                <a16:creationId xmlns:a16="http://schemas.microsoft.com/office/drawing/2014/main" id="{C8CCF3C6-2FD3-4EA8-9A11-32BA13A21567}"/>
              </a:ext>
            </a:extLst>
          </p:cNvPr>
          <p:cNvSpPr/>
          <p:nvPr/>
        </p:nvSpPr>
        <p:spPr>
          <a:xfrm>
            <a:off x="2435225" y="1720850"/>
            <a:ext cx="371475" cy="825500"/>
          </a:xfrm>
          <a:custGeom>
            <a:avLst/>
            <a:gdLst>
              <a:gd name="connsiteX0" fmla="*/ 180975 w 371475"/>
              <a:gd name="connsiteY0" fmla="*/ 0 h 825500"/>
              <a:gd name="connsiteX1" fmla="*/ 117475 w 371475"/>
              <a:gd name="connsiteY1" fmla="*/ 57150 h 825500"/>
              <a:gd name="connsiteX2" fmla="*/ 69850 w 371475"/>
              <a:gd name="connsiteY2" fmla="*/ 142875 h 825500"/>
              <a:gd name="connsiteX3" fmla="*/ 34925 w 371475"/>
              <a:gd name="connsiteY3" fmla="*/ 215900 h 825500"/>
              <a:gd name="connsiteX4" fmla="*/ 19050 w 371475"/>
              <a:gd name="connsiteY4" fmla="*/ 263525 h 825500"/>
              <a:gd name="connsiteX5" fmla="*/ 12700 w 371475"/>
              <a:gd name="connsiteY5" fmla="*/ 327025 h 825500"/>
              <a:gd name="connsiteX6" fmla="*/ 0 w 371475"/>
              <a:gd name="connsiteY6" fmla="*/ 387350 h 825500"/>
              <a:gd name="connsiteX7" fmla="*/ 0 w 371475"/>
              <a:gd name="connsiteY7" fmla="*/ 428625 h 825500"/>
              <a:gd name="connsiteX8" fmla="*/ 6350 w 371475"/>
              <a:gd name="connsiteY8" fmla="*/ 466725 h 825500"/>
              <a:gd name="connsiteX9" fmla="*/ 6350 w 371475"/>
              <a:gd name="connsiteY9" fmla="*/ 498475 h 825500"/>
              <a:gd name="connsiteX10" fmla="*/ 25400 w 371475"/>
              <a:gd name="connsiteY10" fmla="*/ 555625 h 825500"/>
              <a:gd name="connsiteX11" fmla="*/ 31750 w 371475"/>
              <a:gd name="connsiteY11" fmla="*/ 603250 h 825500"/>
              <a:gd name="connsiteX12" fmla="*/ 53975 w 371475"/>
              <a:gd name="connsiteY12" fmla="*/ 650875 h 825500"/>
              <a:gd name="connsiteX13" fmla="*/ 95250 w 371475"/>
              <a:gd name="connsiteY13" fmla="*/ 727075 h 825500"/>
              <a:gd name="connsiteX14" fmla="*/ 120650 w 371475"/>
              <a:gd name="connsiteY14" fmla="*/ 765175 h 825500"/>
              <a:gd name="connsiteX15" fmla="*/ 161925 w 371475"/>
              <a:gd name="connsiteY15" fmla="*/ 796925 h 825500"/>
              <a:gd name="connsiteX16" fmla="*/ 177800 w 371475"/>
              <a:gd name="connsiteY16" fmla="*/ 825500 h 825500"/>
              <a:gd name="connsiteX17" fmla="*/ 282575 w 371475"/>
              <a:gd name="connsiteY17" fmla="*/ 711200 h 825500"/>
              <a:gd name="connsiteX18" fmla="*/ 330200 w 371475"/>
              <a:gd name="connsiteY18" fmla="*/ 612775 h 825500"/>
              <a:gd name="connsiteX19" fmla="*/ 349250 w 371475"/>
              <a:gd name="connsiteY19" fmla="*/ 539750 h 825500"/>
              <a:gd name="connsiteX20" fmla="*/ 371475 w 371475"/>
              <a:gd name="connsiteY20" fmla="*/ 409575 h 825500"/>
              <a:gd name="connsiteX21" fmla="*/ 358775 w 371475"/>
              <a:gd name="connsiteY21" fmla="*/ 301625 h 825500"/>
              <a:gd name="connsiteX22" fmla="*/ 342900 w 371475"/>
              <a:gd name="connsiteY22" fmla="*/ 241300 h 825500"/>
              <a:gd name="connsiteX23" fmla="*/ 317500 w 371475"/>
              <a:gd name="connsiteY23" fmla="*/ 171450 h 825500"/>
              <a:gd name="connsiteX24" fmla="*/ 273050 w 371475"/>
              <a:gd name="connsiteY24" fmla="*/ 95250 h 825500"/>
              <a:gd name="connsiteX25" fmla="*/ 244475 w 371475"/>
              <a:gd name="connsiteY25" fmla="*/ 60325 h 825500"/>
              <a:gd name="connsiteX26" fmla="*/ 180975 w 371475"/>
              <a:gd name="connsiteY26" fmla="*/ 0 h 825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71475" h="825500">
                <a:moveTo>
                  <a:pt x="180975" y="0"/>
                </a:moveTo>
                <a:lnTo>
                  <a:pt x="117475" y="57150"/>
                </a:lnTo>
                <a:lnTo>
                  <a:pt x="69850" y="142875"/>
                </a:lnTo>
                <a:lnTo>
                  <a:pt x="34925" y="215900"/>
                </a:lnTo>
                <a:lnTo>
                  <a:pt x="19050" y="263525"/>
                </a:lnTo>
                <a:lnTo>
                  <a:pt x="12700" y="327025"/>
                </a:lnTo>
                <a:lnTo>
                  <a:pt x="0" y="387350"/>
                </a:lnTo>
                <a:lnTo>
                  <a:pt x="0" y="428625"/>
                </a:lnTo>
                <a:lnTo>
                  <a:pt x="6350" y="466725"/>
                </a:lnTo>
                <a:lnTo>
                  <a:pt x="6350" y="498475"/>
                </a:lnTo>
                <a:lnTo>
                  <a:pt x="25400" y="555625"/>
                </a:lnTo>
                <a:lnTo>
                  <a:pt x="31750" y="603250"/>
                </a:lnTo>
                <a:lnTo>
                  <a:pt x="53975" y="650875"/>
                </a:lnTo>
                <a:lnTo>
                  <a:pt x="95250" y="727075"/>
                </a:lnTo>
                <a:lnTo>
                  <a:pt x="120650" y="765175"/>
                </a:lnTo>
                <a:lnTo>
                  <a:pt x="161925" y="796925"/>
                </a:lnTo>
                <a:lnTo>
                  <a:pt x="177800" y="825500"/>
                </a:lnTo>
                <a:lnTo>
                  <a:pt x="282575" y="711200"/>
                </a:lnTo>
                <a:lnTo>
                  <a:pt x="330200" y="612775"/>
                </a:lnTo>
                <a:lnTo>
                  <a:pt x="349250" y="539750"/>
                </a:lnTo>
                <a:lnTo>
                  <a:pt x="371475" y="409575"/>
                </a:lnTo>
                <a:lnTo>
                  <a:pt x="358775" y="301625"/>
                </a:lnTo>
                <a:lnTo>
                  <a:pt x="342900" y="241300"/>
                </a:lnTo>
                <a:lnTo>
                  <a:pt x="317500" y="171450"/>
                </a:lnTo>
                <a:lnTo>
                  <a:pt x="273050" y="95250"/>
                </a:lnTo>
                <a:lnTo>
                  <a:pt x="244475" y="60325"/>
                </a:lnTo>
                <a:lnTo>
                  <a:pt x="180975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7AA52C"/>
                </a:solidFill>
              </a:ln>
              <a:solidFill>
                <a:srgbClr val="7AA52C"/>
              </a:solidFill>
            </a:endParaRP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DD7E3CE3-F49A-A976-2B23-C71F7B1623C0}"/>
              </a:ext>
            </a:extLst>
          </p:cNvPr>
          <p:cNvSpPr/>
          <p:nvPr/>
        </p:nvSpPr>
        <p:spPr>
          <a:xfrm>
            <a:off x="2423189" y="3294124"/>
            <a:ext cx="1165138" cy="11651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 b="1" dirty="0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C4B7F540-06DE-DA14-DC2C-2399BF5FCF52}"/>
              </a:ext>
            </a:extLst>
          </p:cNvPr>
          <p:cNvSpPr/>
          <p:nvPr/>
        </p:nvSpPr>
        <p:spPr>
          <a:xfrm>
            <a:off x="2423189" y="1547180"/>
            <a:ext cx="1165138" cy="11651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B</a:t>
            </a:r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BF0C4879-9018-B827-B80F-776611AB6ABA}"/>
              </a:ext>
            </a:extLst>
          </p:cNvPr>
          <p:cNvSpPr/>
          <p:nvPr/>
        </p:nvSpPr>
        <p:spPr>
          <a:xfrm>
            <a:off x="1647293" y="1547180"/>
            <a:ext cx="1165138" cy="11651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927025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126" y="326034"/>
            <a:ext cx="8596668" cy="1320800"/>
          </a:xfrm>
        </p:spPr>
        <p:txBody>
          <a:bodyPr/>
          <a:lstStyle/>
          <a:p>
            <a:r>
              <a:rPr lang="en-US" dirty="0"/>
              <a:t>JOIN</a:t>
            </a:r>
            <a:r>
              <a:rPr lang="hy-AM" dirty="0"/>
              <a:t> </a:t>
            </a:r>
            <a:r>
              <a:rPr lang="en-US" dirty="0"/>
              <a:t>(INNER JOIN)</a:t>
            </a:r>
            <a:endParaRPr lang="ru-RU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F08B86F-F326-D2F6-B23F-01B2CA157B7C}"/>
              </a:ext>
            </a:extLst>
          </p:cNvPr>
          <p:cNvGrpSpPr/>
          <p:nvPr/>
        </p:nvGrpSpPr>
        <p:grpSpPr>
          <a:xfrm>
            <a:off x="5720530" y="840273"/>
            <a:ext cx="3922234" cy="2360127"/>
            <a:chOff x="1647293" y="1547180"/>
            <a:chExt cx="1941034" cy="1167979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780F03C-B075-8D02-3E5B-C78E42C6602D}"/>
                </a:ext>
              </a:extLst>
            </p:cNvPr>
            <p:cNvGrpSpPr/>
            <p:nvPr/>
          </p:nvGrpSpPr>
          <p:grpSpPr>
            <a:xfrm>
              <a:off x="1647293" y="1550021"/>
              <a:ext cx="1941034" cy="1165138"/>
              <a:chOff x="2303720" y="2243777"/>
              <a:chExt cx="4451268" cy="2671948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270108A2-05C4-BF15-8DC7-C8030D51F2D2}"/>
                  </a:ext>
                </a:extLst>
              </p:cNvPr>
              <p:cNvSpPr/>
              <p:nvPr/>
            </p:nvSpPr>
            <p:spPr>
              <a:xfrm>
                <a:off x="2303720" y="2243777"/>
                <a:ext cx="2671948" cy="2671948"/>
              </a:xfrm>
              <a:prstGeom prst="ellipse">
                <a:avLst/>
              </a:prstGeom>
              <a:solidFill>
                <a:srgbClr val="2C3C43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800" b="1" dirty="0"/>
                  <a:t>A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C0D9DB2E-A121-BD75-6A1D-FF89930CCE70}"/>
                  </a:ext>
                </a:extLst>
              </p:cNvPr>
              <p:cNvSpPr/>
              <p:nvPr/>
            </p:nvSpPr>
            <p:spPr>
              <a:xfrm>
                <a:off x="4083040" y="2243777"/>
                <a:ext cx="2671948" cy="2671948"/>
              </a:xfrm>
              <a:prstGeom prst="ellipse">
                <a:avLst/>
              </a:prstGeom>
              <a:solidFill>
                <a:srgbClr val="2C3C43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800" b="1" dirty="0"/>
                  <a:t>B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7464D2FB-C4EB-2C0C-E913-EE6D97DBAD43}"/>
                  </a:ext>
                </a:extLst>
              </p:cNvPr>
              <p:cNvSpPr/>
              <p:nvPr/>
            </p:nvSpPr>
            <p:spPr>
              <a:xfrm>
                <a:off x="2303720" y="2243777"/>
                <a:ext cx="2671948" cy="2671948"/>
              </a:xfrm>
              <a:prstGeom prst="ellipse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800" b="1" dirty="0"/>
                  <a:t>A</a:t>
                </a:r>
              </a:p>
            </p:txBody>
          </p:sp>
        </p:grp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3C057CB-B70A-E620-A72D-AEF97C4A3B79}"/>
                </a:ext>
              </a:extLst>
            </p:cNvPr>
            <p:cNvSpPr/>
            <p:nvPr/>
          </p:nvSpPr>
          <p:spPr>
            <a:xfrm>
              <a:off x="2435225" y="1720850"/>
              <a:ext cx="371475" cy="825500"/>
            </a:xfrm>
            <a:custGeom>
              <a:avLst/>
              <a:gdLst>
                <a:gd name="connsiteX0" fmla="*/ 180975 w 371475"/>
                <a:gd name="connsiteY0" fmla="*/ 0 h 825500"/>
                <a:gd name="connsiteX1" fmla="*/ 117475 w 371475"/>
                <a:gd name="connsiteY1" fmla="*/ 57150 h 825500"/>
                <a:gd name="connsiteX2" fmla="*/ 69850 w 371475"/>
                <a:gd name="connsiteY2" fmla="*/ 142875 h 825500"/>
                <a:gd name="connsiteX3" fmla="*/ 34925 w 371475"/>
                <a:gd name="connsiteY3" fmla="*/ 215900 h 825500"/>
                <a:gd name="connsiteX4" fmla="*/ 19050 w 371475"/>
                <a:gd name="connsiteY4" fmla="*/ 263525 h 825500"/>
                <a:gd name="connsiteX5" fmla="*/ 12700 w 371475"/>
                <a:gd name="connsiteY5" fmla="*/ 327025 h 825500"/>
                <a:gd name="connsiteX6" fmla="*/ 0 w 371475"/>
                <a:gd name="connsiteY6" fmla="*/ 387350 h 825500"/>
                <a:gd name="connsiteX7" fmla="*/ 0 w 371475"/>
                <a:gd name="connsiteY7" fmla="*/ 428625 h 825500"/>
                <a:gd name="connsiteX8" fmla="*/ 6350 w 371475"/>
                <a:gd name="connsiteY8" fmla="*/ 466725 h 825500"/>
                <a:gd name="connsiteX9" fmla="*/ 6350 w 371475"/>
                <a:gd name="connsiteY9" fmla="*/ 498475 h 825500"/>
                <a:gd name="connsiteX10" fmla="*/ 25400 w 371475"/>
                <a:gd name="connsiteY10" fmla="*/ 555625 h 825500"/>
                <a:gd name="connsiteX11" fmla="*/ 31750 w 371475"/>
                <a:gd name="connsiteY11" fmla="*/ 603250 h 825500"/>
                <a:gd name="connsiteX12" fmla="*/ 53975 w 371475"/>
                <a:gd name="connsiteY12" fmla="*/ 650875 h 825500"/>
                <a:gd name="connsiteX13" fmla="*/ 95250 w 371475"/>
                <a:gd name="connsiteY13" fmla="*/ 727075 h 825500"/>
                <a:gd name="connsiteX14" fmla="*/ 120650 w 371475"/>
                <a:gd name="connsiteY14" fmla="*/ 765175 h 825500"/>
                <a:gd name="connsiteX15" fmla="*/ 161925 w 371475"/>
                <a:gd name="connsiteY15" fmla="*/ 796925 h 825500"/>
                <a:gd name="connsiteX16" fmla="*/ 177800 w 371475"/>
                <a:gd name="connsiteY16" fmla="*/ 825500 h 825500"/>
                <a:gd name="connsiteX17" fmla="*/ 282575 w 371475"/>
                <a:gd name="connsiteY17" fmla="*/ 711200 h 825500"/>
                <a:gd name="connsiteX18" fmla="*/ 330200 w 371475"/>
                <a:gd name="connsiteY18" fmla="*/ 612775 h 825500"/>
                <a:gd name="connsiteX19" fmla="*/ 349250 w 371475"/>
                <a:gd name="connsiteY19" fmla="*/ 539750 h 825500"/>
                <a:gd name="connsiteX20" fmla="*/ 371475 w 371475"/>
                <a:gd name="connsiteY20" fmla="*/ 409575 h 825500"/>
                <a:gd name="connsiteX21" fmla="*/ 358775 w 371475"/>
                <a:gd name="connsiteY21" fmla="*/ 301625 h 825500"/>
                <a:gd name="connsiteX22" fmla="*/ 342900 w 371475"/>
                <a:gd name="connsiteY22" fmla="*/ 241300 h 825500"/>
                <a:gd name="connsiteX23" fmla="*/ 317500 w 371475"/>
                <a:gd name="connsiteY23" fmla="*/ 171450 h 825500"/>
                <a:gd name="connsiteX24" fmla="*/ 273050 w 371475"/>
                <a:gd name="connsiteY24" fmla="*/ 95250 h 825500"/>
                <a:gd name="connsiteX25" fmla="*/ 244475 w 371475"/>
                <a:gd name="connsiteY25" fmla="*/ 60325 h 825500"/>
                <a:gd name="connsiteX26" fmla="*/ 180975 w 371475"/>
                <a:gd name="connsiteY26" fmla="*/ 0 h 825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71475" h="825500">
                  <a:moveTo>
                    <a:pt x="180975" y="0"/>
                  </a:moveTo>
                  <a:lnTo>
                    <a:pt x="117475" y="57150"/>
                  </a:lnTo>
                  <a:lnTo>
                    <a:pt x="69850" y="142875"/>
                  </a:lnTo>
                  <a:lnTo>
                    <a:pt x="34925" y="215900"/>
                  </a:lnTo>
                  <a:lnTo>
                    <a:pt x="19050" y="263525"/>
                  </a:lnTo>
                  <a:lnTo>
                    <a:pt x="12700" y="327025"/>
                  </a:lnTo>
                  <a:lnTo>
                    <a:pt x="0" y="387350"/>
                  </a:lnTo>
                  <a:lnTo>
                    <a:pt x="0" y="428625"/>
                  </a:lnTo>
                  <a:lnTo>
                    <a:pt x="6350" y="466725"/>
                  </a:lnTo>
                  <a:lnTo>
                    <a:pt x="6350" y="498475"/>
                  </a:lnTo>
                  <a:lnTo>
                    <a:pt x="25400" y="555625"/>
                  </a:lnTo>
                  <a:lnTo>
                    <a:pt x="31750" y="603250"/>
                  </a:lnTo>
                  <a:lnTo>
                    <a:pt x="53975" y="650875"/>
                  </a:lnTo>
                  <a:lnTo>
                    <a:pt x="95250" y="727075"/>
                  </a:lnTo>
                  <a:lnTo>
                    <a:pt x="120650" y="765175"/>
                  </a:lnTo>
                  <a:lnTo>
                    <a:pt x="161925" y="796925"/>
                  </a:lnTo>
                  <a:lnTo>
                    <a:pt x="177800" y="825500"/>
                  </a:lnTo>
                  <a:lnTo>
                    <a:pt x="282575" y="711200"/>
                  </a:lnTo>
                  <a:lnTo>
                    <a:pt x="330200" y="612775"/>
                  </a:lnTo>
                  <a:lnTo>
                    <a:pt x="349250" y="539750"/>
                  </a:lnTo>
                  <a:lnTo>
                    <a:pt x="371475" y="409575"/>
                  </a:lnTo>
                  <a:lnTo>
                    <a:pt x="358775" y="301625"/>
                  </a:lnTo>
                  <a:lnTo>
                    <a:pt x="342900" y="241300"/>
                  </a:lnTo>
                  <a:lnTo>
                    <a:pt x="317500" y="171450"/>
                  </a:lnTo>
                  <a:lnTo>
                    <a:pt x="273050" y="95250"/>
                  </a:lnTo>
                  <a:lnTo>
                    <a:pt x="244475" y="6032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chemeClr val="accent1"/>
            </a:solidFill>
            <a:ln w="571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7AA52C"/>
                  </a:solidFill>
                </a:ln>
                <a:solidFill>
                  <a:srgbClr val="7AA52C"/>
                </a:solidFill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015948F-6D7F-ED1D-DDAA-DDD00CB8C75A}"/>
                </a:ext>
              </a:extLst>
            </p:cNvPr>
            <p:cNvSpPr/>
            <p:nvPr/>
          </p:nvSpPr>
          <p:spPr>
            <a:xfrm>
              <a:off x="2423189" y="1547180"/>
              <a:ext cx="1165138" cy="1165138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800" b="1" dirty="0"/>
                <a:t>B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AAC0D70-D54A-18B2-F453-A17F1C7CB5A9}"/>
                </a:ext>
              </a:extLst>
            </p:cNvPr>
            <p:cNvSpPr/>
            <p:nvPr/>
          </p:nvSpPr>
          <p:spPr>
            <a:xfrm>
              <a:off x="1647293" y="1547180"/>
              <a:ext cx="1165138" cy="1165138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800" b="1" dirty="0"/>
                <a:t>A</a:t>
              </a: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5E1BB40A-DED4-75C2-B066-388EBC2D3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181" y="3657600"/>
            <a:ext cx="9753600" cy="25908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979A316-FBD7-69A5-ACB5-CDA77F3E3C7E}"/>
              </a:ext>
            </a:extLst>
          </p:cNvPr>
          <p:cNvSpPr txBox="1"/>
          <p:nvPr/>
        </p:nvSpPr>
        <p:spPr>
          <a:xfrm>
            <a:off x="929146" y="1277502"/>
            <a:ext cx="3904111" cy="9233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a</a:t>
            </a:r>
            <a:endParaRPr lang="en-US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INNER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E00C6"/>
                </a:solidFill>
                <a:latin typeface="Consolas" panose="020B0609020204030204" pitchFamily="49" charset="0"/>
              </a:rPr>
              <a:t>b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.id = </a:t>
            </a:r>
            <a:r>
              <a:rPr lang="en-US" dirty="0">
                <a:solidFill>
                  <a:srgbClr val="8E00C6"/>
                </a:solidFill>
                <a:latin typeface="Consolas" panose="020B0609020204030204" pitchFamily="49" charset="0"/>
              </a:rPr>
              <a:t>b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.id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378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14214"/>
            <a:ext cx="8596668" cy="1320800"/>
          </a:xfrm>
        </p:spPr>
        <p:txBody>
          <a:bodyPr/>
          <a:lstStyle/>
          <a:p>
            <a:r>
              <a:rPr lang="en-US" dirty="0"/>
              <a:t>FULL JOIN (FULL OUTER JOIN)</a:t>
            </a:r>
            <a:endParaRPr lang="ru-RU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7BA35A1-24ED-D894-BA18-39B07D7AF5A4}"/>
              </a:ext>
            </a:extLst>
          </p:cNvPr>
          <p:cNvGrpSpPr/>
          <p:nvPr/>
        </p:nvGrpSpPr>
        <p:grpSpPr>
          <a:xfrm>
            <a:off x="5905995" y="1074614"/>
            <a:ext cx="3922233" cy="2354386"/>
            <a:chOff x="2303720" y="2243777"/>
            <a:chExt cx="4451268" cy="2671948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DB66B6B-B8AF-E9A7-E8BD-DF413CD2A510}"/>
                </a:ext>
              </a:extLst>
            </p:cNvPr>
            <p:cNvSpPr/>
            <p:nvPr/>
          </p:nvSpPr>
          <p:spPr>
            <a:xfrm>
              <a:off x="2303720" y="2243777"/>
              <a:ext cx="2671948" cy="2671948"/>
            </a:xfrm>
            <a:prstGeom prst="ellips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800" b="1" dirty="0"/>
                <a:t>A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4A7ABFC-CD6C-1958-4DFA-F461A05C7175}"/>
                </a:ext>
              </a:extLst>
            </p:cNvPr>
            <p:cNvSpPr/>
            <p:nvPr/>
          </p:nvSpPr>
          <p:spPr>
            <a:xfrm>
              <a:off x="4083040" y="2243777"/>
              <a:ext cx="2671948" cy="2671948"/>
            </a:xfrm>
            <a:prstGeom prst="ellips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800" b="1" dirty="0"/>
                <a:t>B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B31437B-3988-7A48-0214-246BC62AEE68}"/>
                </a:ext>
              </a:extLst>
            </p:cNvPr>
            <p:cNvSpPr/>
            <p:nvPr/>
          </p:nvSpPr>
          <p:spPr>
            <a:xfrm>
              <a:off x="2303720" y="2243777"/>
              <a:ext cx="2671948" cy="2671948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800" b="1" dirty="0"/>
                <a:t>A</a:t>
              </a: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1D4240D2-DB74-A393-CBA5-D5FC9EA85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195" y="3714935"/>
            <a:ext cx="9753600" cy="294322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8AA1890-CAAC-182D-4B10-48006156A668}"/>
              </a:ext>
            </a:extLst>
          </p:cNvPr>
          <p:cNvSpPr txBox="1"/>
          <p:nvPr/>
        </p:nvSpPr>
        <p:spPr>
          <a:xfrm>
            <a:off x="929145" y="1277502"/>
            <a:ext cx="4422623" cy="9233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a</a:t>
            </a:r>
            <a:endParaRPr lang="en-US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FULL OUTER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E00C6"/>
                </a:solidFill>
                <a:latin typeface="Consolas" panose="020B0609020204030204" pitchFamily="49" charset="0"/>
              </a:rPr>
              <a:t>b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.id = </a:t>
            </a:r>
            <a:r>
              <a:rPr lang="en-US" dirty="0">
                <a:solidFill>
                  <a:srgbClr val="8E00C6"/>
                </a:solidFill>
                <a:latin typeface="Consolas" panose="020B0609020204030204" pitchFamily="49" charset="0"/>
              </a:rPr>
              <a:t>b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.id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2872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5459" y="414214"/>
            <a:ext cx="8596668" cy="1320800"/>
          </a:xfrm>
        </p:spPr>
        <p:txBody>
          <a:bodyPr/>
          <a:lstStyle/>
          <a:p>
            <a:r>
              <a:rPr lang="en-US" dirty="0"/>
              <a:t>LEFT JOIN (LEFT OUTER JOIN)</a:t>
            </a:r>
            <a:endParaRPr lang="ru-RU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CFBAC23-72C6-8BA9-CCA3-F5CB2A8FC258}"/>
              </a:ext>
            </a:extLst>
          </p:cNvPr>
          <p:cNvGrpSpPr/>
          <p:nvPr/>
        </p:nvGrpSpPr>
        <p:grpSpPr>
          <a:xfrm>
            <a:off x="5742675" y="1074614"/>
            <a:ext cx="4027020" cy="2420452"/>
            <a:chOff x="1344693" y="1976401"/>
            <a:chExt cx="1941034" cy="116666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0966771-30A9-4F2F-34D1-5D830AB40021}"/>
                </a:ext>
              </a:extLst>
            </p:cNvPr>
            <p:cNvGrpSpPr/>
            <p:nvPr/>
          </p:nvGrpSpPr>
          <p:grpSpPr>
            <a:xfrm>
              <a:off x="1344693" y="1977927"/>
              <a:ext cx="1941034" cy="1165138"/>
              <a:chOff x="2303720" y="2243777"/>
              <a:chExt cx="4451268" cy="2671948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297A7C0C-859A-32BF-9C58-12F4FA997382}"/>
                  </a:ext>
                </a:extLst>
              </p:cNvPr>
              <p:cNvSpPr/>
              <p:nvPr/>
            </p:nvSpPr>
            <p:spPr>
              <a:xfrm>
                <a:off x="2303720" y="2243777"/>
                <a:ext cx="2671948" cy="2671948"/>
              </a:xfrm>
              <a:prstGeom prst="ellipse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800" b="1" dirty="0"/>
                  <a:t>A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46A4F5B-4343-14CE-F751-CDD4CF660259}"/>
                  </a:ext>
                </a:extLst>
              </p:cNvPr>
              <p:cNvSpPr/>
              <p:nvPr/>
            </p:nvSpPr>
            <p:spPr>
              <a:xfrm>
                <a:off x="4083040" y="2243777"/>
                <a:ext cx="2671948" cy="2671948"/>
              </a:xfrm>
              <a:prstGeom prst="ellipse">
                <a:avLst/>
              </a:prstGeom>
              <a:solidFill>
                <a:srgbClr val="2C3C43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800" b="1" dirty="0"/>
                  <a:t>B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D95BE67-1B3D-EBA8-99C6-9F41FC9FFAC1}"/>
                  </a:ext>
                </a:extLst>
              </p:cNvPr>
              <p:cNvSpPr/>
              <p:nvPr/>
            </p:nvSpPr>
            <p:spPr>
              <a:xfrm>
                <a:off x="2303720" y="2243777"/>
                <a:ext cx="2671948" cy="2671948"/>
              </a:xfrm>
              <a:prstGeom prst="ellips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800" b="1" dirty="0"/>
                  <a:t>A</a:t>
                </a:r>
              </a:p>
            </p:txBody>
          </p:sp>
        </p:grp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C0852B2-3BB5-A1A4-5CCB-A680B9F3A553}"/>
                </a:ext>
              </a:extLst>
            </p:cNvPr>
            <p:cNvSpPr/>
            <p:nvPr/>
          </p:nvSpPr>
          <p:spPr>
            <a:xfrm>
              <a:off x="2120589" y="1976401"/>
              <a:ext cx="1165138" cy="1165138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800" b="1" dirty="0"/>
            </a:p>
          </p:txBody>
        </p:sp>
      </p:grpSp>
      <p:pic>
        <p:nvPicPr>
          <p:cNvPr id="2050" name="Picture 2" descr="Left JOIN">
            <a:extLst>
              <a:ext uri="{FF2B5EF4-FFF2-40B4-BE49-F238E27FC236}">
                <a16:creationId xmlns:a16="http://schemas.microsoft.com/office/drawing/2014/main" id="{B35F2402-1F5A-3852-7309-7A7BB2FE0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070" y="3852986"/>
            <a:ext cx="9753600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3966310-DB51-0E8E-9B35-74B26F6F46DF}"/>
              </a:ext>
            </a:extLst>
          </p:cNvPr>
          <p:cNvSpPr txBox="1"/>
          <p:nvPr/>
        </p:nvSpPr>
        <p:spPr>
          <a:xfrm>
            <a:off x="929146" y="1277502"/>
            <a:ext cx="4402875" cy="9233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a</a:t>
            </a:r>
            <a:endParaRPr lang="en-US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LEFT OUTER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E00C6"/>
                </a:solidFill>
                <a:latin typeface="Consolas" panose="020B0609020204030204" pitchFamily="49" charset="0"/>
              </a:rPr>
              <a:t>b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.id = </a:t>
            </a:r>
            <a:r>
              <a:rPr lang="en-US" dirty="0">
                <a:solidFill>
                  <a:srgbClr val="8E00C6"/>
                </a:solidFill>
                <a:latin typeface="Consolas" panose="020B0609020204030204" pitchFamily="49" charset="0"/>
              </a:rPr>
              <a:t>b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.id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9800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5459" y="414214"/>
            <a:ext cx="8596668" cy="1320800"/>
          </a:xfrm>
        </p:spPr>
        <p:txBody>
          <a:bodyPr/>
          <a:lstStyle/>
          <a:p>
            <a:r>
              <a:rPr lang="en-US" dirty="0"/>
              <a:t>RIGHT JOIN (RIGHT OUTER JOIN)</a:t>
            </a:r>
            <a:endParaRPr lang="ru-RU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F9B4636-738A-5FBA-93BA-FDC4741F8639}"/>
              </a:ext>
            </a:extLst>
          </p:cNvPr>
          <p:cNvGrpSpPr/>
          <p:nvPr/>
        </p:nvGrpSpPr>
        <p:grpSpPr>
          <a:xfrm>
            <a:off x="5810547" y="1074614"/>
            <a:ext cx="4027019" cy="2417285"/>
            <a:chOff x="2303720" y="2243777"/>
            <a:chExt cx="4451268" cy="2671948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61476B5A-DB3D-BECD-44F1-A34A3E32BF35}"/>
                </a:ext>
              </a:extLst>
            </p:cNvPr>
            <p:cNvSpPr/>
            <p:nvPr/>
          </p:nvSpPr>
          <p:spPr>
            <a:xfrm>
              <a:off x="2303720" y="2243777"/>
              <a:ext cx="2671948" cy="2671948"/>
            </a:xfrm>
            <a:prstGeom prst="ellipse">
              <a:avLst/>
            </a:prstGeom>
            <a:solidFill>
              <a:srgbClr val="2C3C43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800" b="1" dirty="0"/>
                <a:t>A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EB76E04-D003-ED3D-427D-7F67CE23A858}"/>
                </a:ext>
              </a:extLst>
            </p:cNvPr>
            <p:cNvSpPr/>
            <p:nvPr/>
          </p:nvSpPr>
          <p:spPr>
            <a:xfrm>
              <a:off x="4083040" y="2243777"/>
              <a:ext cx="2671948" cy="2671948"/>
            </a:xfrm>
            <a:prstGeom prst="ellips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800" b="1" dirty="0"/>
                <a:t>B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8E4A8E9-FCBE-4E18-40B0-759670747382}"/>
                </a:ext>
              </a:extLst>
            </p:cNvPr>
            <p:cNvSpPr/>
            <p:nvPr/>
          </p:nvSpPr>
          <p:spPr>
            <a:xfrm>
              <a:off x="2303720" y="2243777"/>
              <a:ext cx="2671948" cy="2671948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800" b="1" dirty="0"/>
                <a:t>A</a:t>
              </a: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68A3E9CF-E613-B1BD-4DE9-EEDF047A35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879" b="13027"/>
          <a:stretch/>
        </p:blipFill>
        <p:spPr>
          <a:xfrm>
            <a:off x="1047997" y="3852887"/>
            <a:ext cx="9906000" cy="284117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0E4D993-A23C-359A-BEC7-520EB225908F}"/>
              </a:ext>
            </a:extLst>
          </p:cNvPr>
          <p:cNvSpPr txBox="1"/>
          <p:nvPr/>
        </p:nvSpPr>
        <p:spPr>
          <a:xfrm>
            <a:off x="929145" y="1277502"/>
            <a:ext cx="4521629" cy="9233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a</a:t>
            </a:r>
            <a:endParaRPr lang="en-US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RIGHT OUTER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E00C6"/>
                </a:solidFill>
                <a:latin typeface="Consolas" panose="020B0609020204030204" pitchFamily="49" charset="0"/>
              </a:rPr>
              <a:t>b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.id = </a:t>
            </a:r>
            <a:r>
              <a:rPr lang="en-US" dirty="0">
                <a:solidFill>
                  <a:srgbClr val="8E00C6"/>
                </a:solidFill>
                <a:latin typeface="Consolas" panose="020B0609020204030204" pitchFamily="49" charset="0"/>
              </a:rPr>
              <a:t>b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.id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8404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5459" y="414214"/>
            <a:ext cx="8596668" cy="1320800"/>
          </a:xfrm>
        </p:spPr>
        <p:txBody>
          <a:bodyPr/>
          <a:lstStyle/>
          <a:p>
            <a:r>
              <a:rPr lang="en-US" dirty="0"/>
              <a:t>CROSS JOIN</a:t>
            </a:r>
            <a:endParaRPr lang="ru-RU" dirty="0"/>
          </a:p>
        </p:txBody>
      </p:sp>
      <p:pic>
        <p:nvPicPr>
          <p:cNvPr id="3074" name="Picture 2" descr="Cross Join">
            <a:extLst>
              <a:ext uri="{FF2B5EF4-FFF2-40B4-BE49-F238E27FC236}">
                <a16:creationId xmlns:a16="http://schemas.microsoft.com/office/drawing/2014/main" id="{0C58CE5E-CB25-236A-1D16-7E4FF2D6BF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081338"/>
            <a:ext cx="9753600" cy="366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29985B74-D0C1-DF40-F0FA-77E06FF1985B}"/>
              </a:ext>
            </a:extLst>
          </p:cNvPr>
          <p:cNvGrpSpPr/>
          <p:nvPr/>
        </p:nvGrpSpPr>
        <p:grpSpPr>
          <a:xfrm>
            <a:off x="4494553" y="458158"/>
            <a:ext cx="4869026" cy="2319824"/>
            <a:chOff x="1277095" y="4983833"/>
            <a:chExt cx="2594176" cy="123598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39F6224-8AF3-D39E-DB01-CE5F5F643975}"/>
                </a:ext>
              </a:extLst>
            </p:cNvPr>
            <p:cNvGrpSpPr/>
            <p:nvPr/>
          </p:nvGrpSpPr>
          <p:grpSpPr>
            <a:xfrm>
              <a:off x="1277095" y="5054678"/>
              <a:ext cx="2594176" cy="1165138"/>
              <a:chOff x="2303720" y="2243777"/>
              <a:chExt cx="5949083" cy="2671948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4E4B893E-0ED2-86F9-7266-4BFA320166D9}"/>
                  </a:ext>
                </a:extLst>
              </p:cNvPr>
              <p:cNvSpPr/>
              <p:nvPr/>
            </p:nvSpPr>
            <p:spPr>
              <a:xfrm>
                <a:off x="2303720" y="2243777"/>
                <a:ext cx="2671948" cy="2671948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4800" b="1" dirty="0"/>
                  <a:t>A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B2F9DF20-11D0-52C0-E443-F25B2D173D53}"/>
                  </a:ext>
                </a:extLst>
              </p:cNvPr>
              <p:cNvSpPr/>
              <p:nvPr/>
            </p:nvSpPr>
            <p:spPr>
              <a:xfrm>
                <a:off x="5580855" y="2243777"/>
                <a:ext cx="2671948" cy="2671948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 sz="4800" b="1" dirty="0"/>
                  <a:t>B</a:t>
                </a: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87EAF1E-EA31-CD8F-3146-C16937F80E71}"/>
                </a:ext>
              </a:extLst>
            </p:cNvPr>
            <p:cNvSpPr txBox="1"/>
            <p:nvPr/>
          </p:nvSpPr>
          <p:spPr>
            <a:xfrm>
              <a:off x="1949829" y="5024071"/>
              <a:ext cx="259080" cy="118168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3200" dirty="0"/>
                <a:t>123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CA84C96-D578-E196-AC4F-378F3C65A234}"/>
                </a:ext>
              </a:extLst>
            </p:cNvPr>
            <p:cNvCxnSpPr>
              <a:cxnSpLocks/>
            </p:cNvCxnSpPr>
            <p:nvPr/>
          </p:nvCxnSpPr>
          <p:spPr>
            <a:xfrm>
              <a:off x="2133422" y="5237673"/>
              <a:ext cx="85266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A6E64C9-E0D1-16BB-9A11-DA1A6DA2950E}"/>
                </a:ext>
              </a:extLst>
            </p:cNvPr>
            <p:cNvSpPr txBox="1"/>
            <p:nvPr/>
          </p:nvSpPr>
          <p:spPr>
            <a:xfrm>
              <a:off x="2999702" y="4983833"/>
              <a:ext cx="259080" cy="118168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3200" dirty="0"/>
                <a:t>XYZ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AB527AB-0215-6CA2-448C-0B1842AF2F1C}"/>
                </a:ext>
              </a:extLst>
            </p:cNvPr>
            <p:cNvCxnSpPr>
              <a:cxnSpLocks/>
            </p:cNvCxnSpPr>
            <p:nvPr/>
          </p:nvCxnSpPr>
          <p:spPr>
            <a:xfrm>
              <a:off x="2147850" y="5638551"/>
              <a:ext cx="85266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A487597-1599-4EE5-1ADF-60BE71463AF6}"/>
                </a:ext>
              </a:extLst>
            </p:cNvPr>
            <p:cNvCxnSpPr>
              <a:cxnSpLocks/>
            </p:cNvCxnSpPr>
            <p:nvPr/>
          </p:nvCxnSpPr>
          <p:spPr>
            <a:xfrm>
              <a:off x="2147850" y="6062413"/>
              <a:ext cx="85266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F6DFCF69-6AB7-C82F-A3ED-6D399548BF4E}"/>
                </a:ext>
              </a:extLst>
            </p:cNvPr>
            <p:cNvCxnSpPr>
              <a:cxnSpLocks/>
            </p:cNvCxnSpPr>
            <p:nvPr/>
          </p:nvCxnSpPr>
          <p:spPr>
            <a:xfrm>
              <a:off x="2133422" y="5237673"/>
              <a:ext cx="902672" cy="701165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73CE3CD1-BF17-446B-08C1-740DBA7E47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47850" y="5362575"/>
              <a:ext cx="866813" cy="699838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CEE380E-03AA-D1E2-5F33-C3244F0AF1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47196" y="5299353"/>
              <a:ext cx="838892" cy="337894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5AA99EE-CD4B-CA56-FC33-58A5196E06E7}"/>
                </a:ext>
              </a:extLst>
            </p:cNvPr>
            <p:cNvCxnSpPr>
              <a:cxnSpLocks/>
            </p:cNvCxnSpPr>
            <p:nvPr/>
          </p:nvCxnSpPr>
          <p:spPr>
            <a:xfrm>
              <a:off x="2147888" y="5634038"/>
              <a:ext cx="857250" cy="369093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46C3BC9E-A884-BB19-6F41-2B7BAEBC78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50269" y="5693569"/>
              <a:ext cx="864394" cy="371475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257904CE-2A01-5A6E-CDFC-5C67DDD24D69}"/>
                </a:ext>
              </a:extLst>
            </p:cNvPr>
            <p:cNvCxnSpPr>
              <a:cxnSpLocks/>
            </p:cNvCxnSpPr>
            <p:nvPr/>
          </p:nvCxnSpPr>
          <p:spPr>
            <a:xfrm>
              <a:off x="2140655" y="5243804"/>
              <a:ext cx="864483" cy="342609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BCD2FD73-6215-51CF-A398-543FF66D6DDE}"/>
              </a:ext>
            </a:extLst>
          </p:cNvPr>
          <p:cNvSpPr txBox="1"/>
          <p:nvPr/>
        </p:nvSpPr>
        <p:spPr>
          <a:xfrm>
            <a:off x="438041" y="1544665"/>
            <a:ext cx="3904111" cy="9233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a</a:t>
            </a:r>
            <a:endParaRPr lang="en-US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CROSS JOIN </a:t>
            </a:r>
            <a:r>
              <a:rPr lang="en-US" dirty="0">
                <a:solidFill>
                  <a:srgbClr val="8E00C6"/>
                </a:solidFill>
                <a:latin typeface="Consolas" panose="020B0609020204030204" pitchFamily="49" charset="0"/>
              </a:rPr>
              <a:t>b</a:t>
            </a:r>
            <a:endParaRPr lang="en-US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615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5459" y="414214"/>
            <a:ext cx="8596668" cy="1320800"/>
          </a:xfrm>
        </p:spPr>
        <p:txBody>
          <a:bodyPr/>
          <a:lstStyle/>
          <a:p>
            <a:r>
              <a:rPr lang="en-US" dirty="0"/>
              <a:t>SELF JOIN</a:t>
            </a:r>
            <a:endParaRPr lang="ru-RU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EB62EAF-002F-AA5C-7336-C7B4FCC483E4}"/>
              </a:ext>
            </a:extLst>
          </p:cNvPr>
          <p:cNvGrpSpPr/>
          <p:nvPr/>
        </p:nvGrpSpPr>
        <p:grpSpPr>
          <a:xfrm>
            <a:off x="3994067" y="2824869"/>
            <a:ext cx="3534902" cy="2755629"/>
            <a:chOff x="6227728" y="4953604"/>
            <a:chExt cx="1633804" cy="127363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278EB83-A5FF-7EC5-F28B-C1F8D2F1FCCD}"/>
                </a:ext>
              </a:extLst>
            </p:cNvPr>
            <p:cNvGrpSpPr/>
            <p:nvPr/>
          </p:nvGrpSpPr>
          <p:grpSpPr>
            <a:xfrm>
              <a:off x="6227728" y="5062096"/>
              <a:ext cx="1165138" cy="1165138"/>
              <a:chOff x="2303720" y="2243777"/>
              <a:chExt cx="2671948" cy="2671948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1F8F026-18C9-86E7-2C07-743CB29444B6}"/>
                  </a:ext>
                </a:extLst>
              </p:cNvPr>
              <p:cNvSpPr/>
              <p:nvPr/>
            </p:nvSpPr>
            <p:spPr>
              <a:xfrm>
                <a:off x="2303720" y="2243777"/>
                <a:ext cx="2671948" cy="2671948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800" b="1" dirty="0"/>
                  <a:t>A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1570E6A5-B9CA-02C9-D78B-6F4D4913B2CF}"/>
                  </a:ext>
                </a:extLst>
              </p:cNvPr>
              <p:cNvSpPr/>
              <p:nvPr/>
            </p:nvSpPr>
            <p:spPr>
              <a:xfrm>
                <a:off x="2303720" y="2243777"/>
                <a:ext cx="2671948" cy="2671948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800" b="1" dirty="0"/>
                  <a:t>A</a:t>
                </a:r>
              </a:p>
            </p:txBody>
          </p:sp>
        </p:grpSp>
        <p:sp>
          <p:nvSpPr>
            <p:cNvPr id="8" name="Arc 7">
              <a:extLst>
                <a:ext uri="{FF2B5EF4-FFF2-40B4-BE49-F238E27FC236}">
                  <a16:creationId xmlns:a16="http://schemas.microsoft.com/office/drawing/2014/main" id="{4C0C39F8-BB80-08D3-EC16-C72EF4202451}"/>
                </a:ext>
              </a:extLst>
            </p:cNvPr>
            <p:cNvSpPr/>
            <p:nvPr/>
          </p:nvSpPr>
          <p:spPr>
            <a:xfrm rot="19958934">
              <a:off x="7012992" y="4953604"/>
              <a:ext cx="848540" cy="948453"/>
            </a:xfrm>
            <a:prstGeom prst="arc">
              <a:avLst>
                <a:gd name="adj1" fmla="val 14738016"/>
                <a:gd name="adj2" fmla="val 7873125"/>
              </a:avLst>
            </a:prstGeom>
            <a:noFill/>
            <a:ln w="571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1A2FCD9-4208-23C6-0098-8810382C1741}"/>
              </a:ext>
            </a:extLst>
          </p:cNvPr>
          <p:cNvSpPr txBox="1"/>
          <p:nvPr/>
        </p:nvSpPr>
        <p:spPr>
          <a:xfrm>
            <a:off x="929146" y="1277502"/>
            <a:ext cx="6801690" cy="9233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e</a:t>
            </a:r>
            <a:endParaRPr lang="en-US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INNER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i="1" dirty="0" err="1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ReportsTo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i="1" dirty="0" err="1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EmployeeId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915755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2532</TotalTime>
  <Words>819</Words>
  <Application>Microsoft Office PowerPoint</Application>
  <PresentationFormat>Widescreen</PresentationFormat>
  <Paragraphs>114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Consolas</vt:lpstr>
      <vt:lpstr>Trebuchet MS</vt:lpstr>
      <vt:lpstr>Wingdings 3</vt:lpstr>
      <vt:lpstr>Facet</vt:lpstr>
      <vt:lpstr>Introduction to databases and SQL</vt:lpstr>
      <vt:lpstr>JOIN</vt:lpstr>
      <vt:lpstr>Types of JOINs</vt:lpstr>
      <vt:lpstr>JOIN (INNER JOIN)</vt:lpstr>
      <vt:lpstr>FULL JOIN (FULL OUTER JOIN)</vt:lpstr>
      <vt:lpstr>LEFT JOIN (LEFT OUTER JOIN)</vt:lpstr>
      <vt:lpstr>RIGHT JOIN (RIGHT OUTER JOIN)</vt:lpstr>
      <vt:lpstr>CROSS JOIN</vt:lpstr>
      <vt:lpstr>SELF JOIN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Aleksei Pichushkin</dc:creator>
  <cp:lastModifiedBy>Aleksei Pichushkin</cp:lastModifiedBy>
  <cp:revision>12</cp:revision>
  <dcterms:created xsi:type="dcterms:W3CDTF">2025-04-22T10:19:46Z</dcterms:created>
  <dcterms:modified xsi:type="dcterms:W3CDTF">2025-05-06T10:52:16Z</dcterms:modified>
</cp:coreProperties>
</file>